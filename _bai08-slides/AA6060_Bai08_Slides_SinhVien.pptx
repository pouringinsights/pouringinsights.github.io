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1600200"/>
            <a:ext cx="10332720" cy="457200"/>
          </a:xfrm>
          <a:prstGeom prst="rect">
            <a:avLst/>
          </a:prstGeom>
          <a:noFill/>
        </p:spPr>
        <p:txBody>
          <a:bodyPr wrap="square" lIns="0" rIns="0" tIns="0" bIns="0" anchor="t">
            <a:spAutoFit/>
          </a:bodyPr>
          <a:lstStyle/>
          <a:p>
            <a:pPr algn="ctr">
              <a:lnSpc>
                <a:spcPct val="110000"/>
              </a:lnSpc>
              <a:spcAft>
                <a:spcPts val="0"/>
              </a:spcAft>
            </a:pPr>
            <a:r>
              <a:rPr sz="1800" b="0" i="0">
                <a:solidFill>
                  <a:srgbClr val="C9D6EA"/>
                </a:solidFill>
                <a:latin typeface="Arial"/>
              </a:rPr>
              <a:t>Phân tích dữ liệu và ra quyết định · AA6060</a:t>
            </a:r>
          </a:p>
        </p:txBody>
      </p:sp>
      <p:sp>
        <p:nvSpPr>
          <p:cNvPr id="4" name="TextBox 3"/>
          <p:cNvSpPr txBox="1"/>
          <p:nvPr/>
        </p:nvSpPr>
        <p:spPr>
          <a:xfrm>
            <a:off x="914400" y="2103120"/>
            <a:ext cx="10332720" cy="914400"/>
          </a:xfrm>
          <a:prstGeom prst="rect">
            <a:avLst/>
          </a:prstGeom>
          <a:noFill/>
        </p:spPr>
        <p:txBody>
          <a:bodyPr wrap="square" lIns="0" rIns="0" tIns="0" bIns="0" anchor="t">
            <a:spAutoFit/>
          </a:bodyPr>
          <a:lstStyle/>
          <a:p>
            <a:pPr algn="ctr">
              <a:lnSpc>
                <a:spcPct val="110000"/>
              </a:lnSpc>
              <a:spcAft>
                <a:spcPts val="0"/>
              </a:spcAft>
            </a:pPr>
            <a:r>
              <a:rPr sz="4400" b="1" i="0">
                <a:solidFill>
                  <a:srgbClr val="FFFFFF"/>
                </a:solidFill>
                <a:latin typeface="Arial"/>
              </a:rPr>
              <a:t>Bài 8. Hệ thống gợi ý</a:t>
            </a:r>
          </a:p>
        </p:txBody>
      </p:sp>
      <p:sp>
        <p:nvSpPr>
          <p:cNvPr id="5" name="TextBox 4"/>
          <p:cNvSpPr txBox="1"/>
          <p:nvPr/>
        </p:nvSpPr>
        <p:spPr>
          <a:xfrm>
            <a:off x="914400" y="3063240"/>
            <a:ext cx="10332720" cy="548640"/>
          </a:xfrm>
          <a:prstGeom prst="rect">
            <a:avLst/>
          </a:prstGeom>
          <a:noFill/>
        </p:spPr>
        <p:txBody>
          <a:bodyPr wrap="square" lIns="0" rIns="0" tIns="0" bIns="0" anchor="t">
            <a:spAutoFit/>
          </a:bodyPr>
          <a:lstStyle/>
          <a:p>
            <a:pPr algn="ctr">
              <a:lnSpc>
                <a:spcPct val="110000"/>
              </a:lnSpc>
              <a:spcAft>
                <a:spcPts val="0"/>
              </a:spcAft>
            </a:pPr>
            <a:r>
              <a:rPr sz="2200" b="0" i="0">
                <a:solidFill>
                  <a:srgbClr val="F5C518"/>
                </a:solidFill>
                <a:latin typeface="Arial"/>
              </a:rPr>
              <a:t>Lọc theo nội dung, lọc cộng tác và cách đánh giá</a:t>
            </a:r>
          </a:p>
        </p:txBody>
      </p:sp>
      <p:sp>
        <p:nvSpPr>
          <p:cNvPr id="6" name="TextBox 5"/>
          <p:cNvSpPr txBox="1"/>
          <p:nvPr/>
        </p:nvSpPr>
        <p:spPr>
          <a:xfrm>
            <a:off x="914400" y="3931920"/>
            <a:ext cx="10332720"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C9D6EA"/>
                </a:solidFill>
                <a:latin typeface="Arial"/>
              </a:rPr>
              <a:t>Ví dụ minh hoạ: Netflix và bộ dữ liệu MovieLens 1M</a:t>
            </a:r>
          </a:p>
        </p:txBody>
      </p:sp>
      <p:sp>
        <p:nvSpPr>
          <p:cNvPr id="7" name="TextBox 6"/>
          <p:cNvSpPr txBox="1"/>
          <p:nvPr/>
        </p:nvSpPr>
        <p:spPr>
          <a:xfrm>
            <a:off x="914400" y="4846320"/>
            <a:ext cx="10332720"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FFFFFF"/>
                </a:solidFill>
                <a:latin typeface="Arial"/>
              </a:rPr>
              <a:t>Giảng viên: Trương Hoàng Giang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Tối nay xem phim gì?</a:t>
            </a:r>
          </a:p>
        </p:txBody>
      </p:sp>
      <p:sp>
        <p:nvSpPr>
          <p:cNvPr id="4" name="TextBox 3"/>
          <p:cNvSpPr txBox="1"/>
          <p:nvPr/>
        </p:nvSpPr>
        <p:spPr>
          <a:xfrm>
            <a:off x="457200" y="1371600"/>
            <a:ext cx="10058400" cy="914400"/>
          </a:xfrm>
          <a:prstGeom prst="rect">
            <a:avLst/>
          </a:prstGeom>
          <a:noFill/>
        </p:spPr>
        <p:txBody>
          <a:bodyPr wrap="square" lIns="0" rIns="0" tIns="0" bIns="0" anchor="t">
            <a:spAutoFit/>
          </a:bodyPr>
          <a:lstStyle/>
          <a:p>
            <a:pPr algn="l">
              <a:lnSpc>
                <a:spcPct val="110000"/>
              </a:lnSpc>
              <a:spcAft>
                <a:spcPts val="0"/>
              </a:spcAft>
            </a:pPr>
            <a:r>
              <a:rPr sz="2200" b="0" i="0">
                <a:solidFill>
                  <a:srgbClr val="26303D"/>
                </a:solidFill>
                <a:latin typeface="Arial"/>
              </a:rPr>
              <a:t>Bạn chỉ được nghe MỘT người trước khi chọn phim. Bạn nghe ai?</a:t>
            </a:r>
          </a:p>
        </p:txBody>
      </p:sp>
      <p:sp>
        <p:nvSpPr>
          <p:cNvPr id="5" name="Rounded Rectangle 4"/>
          <p:cNvSpPr/>
          <p:nvPr/>
        </p:nvSpPr>
        <p:spPr>
          <a:xfrm>
            <a:off x="457200" y="2423160"/>
            <a:ext cx="5500052" cy="2377440"/>
          </a:xfrm>
          <a:prstGeom prst="roundRect">
            <a:avLst>
              <a:gd name="adj" fmla="val 6000"/>
            </a:avLst>
          </a:prstGeom>
          <a:solidFill>
            <a:srgbClr val="EAF0F8"/>
          </a:solidFill>
          <a:ln>
            <a:noFill/>
          </a:ln>
          <a:effectLst/>
        </p:spPr>
        <p:txBody>
          <a:bodyPr rtlCol="0" anchor="ctr"/>
          <a:lstStyle/>
          <a:p/>
        </p:txBody>
      </p:sp>
      <p:sp>
        <p:nvSpPr>
          <p:cNvPr id="6" name="TextBox 5"/>
          <p:cNvSpPr txBox="1"/>
          <p:nvPr/>
        </p:nvSpPr>
        <p:spPr>
          <a:xfrm>
            <a:off x="822960" y="2651760"/>
            <a:ext cx="1097280" cy="1097280"/>
          </a:xfrm>
          <a:prstGeom prst="rect">
            <a:avLst/>
          </a:prstGeom>
          <a:noFill/>
        </p:spPr>
        <p:txBody>
          <a:bodyPr wrap="square" lIns="0" rIns="0" tIns="0" bIns="0" anchor="t">
            <a:spAutoFit/>
          </a:bodyPr>
          <a:lstStyle/>
          <a:p>
            <a:pPr algn="l">
              <a:lnSpc>
                <a:spcPct val="110000"/>
              </a:lnSpc>
              <a:spcAft>
                <a:spcPts val="0"/>
              </a:spcAft>
            </a:pPr>
            <a:r>
              <a:rPr sz="6000" b="1" i="0">
                <a:solidFill>
                  <a:srgbClr val="1C3A6E"/>
                </a:solidFill>
                <a:latin typeface="Arial"/>
              </a:rPr>
              <a:t>A</a:t>
            </a:r>
          </a:p>
        </p:txBody>
      </p:sp>
      <p:sp>
        <p:nvSpPr>
          <p:cNvPr id="7" name="TextBox 6"/>
          <p:cNvSpPr txBox="1"/>
          <p:nvPr/>
        </p:nvSpPr>
        <p:spPr>
          <a:xfrm>
            <a:off x="822960" y="3703320"/>
            <a:ext cx="476853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Nhà phê bình điện ảnh</a:t>
            </a:r>
          </a:p>
        </p:txBody>
      </p:sp>
      <p:sp>
        <p:nvSpPr>
          <p:cNvPr id="8" name="TextBox 7"/>
          <p:cNvSpPr txBox="1"/>
          <p:nvPr/>
        </p:nvSpPr>
        <p:spPr>
          <a:xfrm>
            <a:off x="822960" y="4160520"/>
            <a:ext cx="4768532" cy="457200"/>
          </a:xfrm>
          <a:prstGeom prst="rect">
            <a:avLst/>
          </a:prstGeom>
          <a:noFill/>
        </p:spPr>
        <p:txBody>
          <a:bodyPr wrap="square" lIns="0" rIns="0" tIns="0" bIns="0" anchor="t">
            <a:spAutoFit/>
          </a:bodyPr>
          <a:lstStyle/>
          <a:p>
            <a:pPr algn="l">
              <a:lnSpc>
                <a:spcPct val="110000"/>
              </a:lnSpc>
              <a:spcAft>
                <a:spcPts val="0"/>
              </a:spcAft>
            </a:pPr>
            <a:r>
              <a:rPr sz="1600" b="0" i="0">
                <a:solidFill>
                  <a:srgbClr val="5F6B7A"/>
                </a:solidFill>
                <a:latin typeface="Arial"/>
              </a:rPr>
              <a:t>xem rất nhiều phim, viết bài chuyên môn</a:t>
            </a:r>
          </a:p>
        </p:txBody>
      </p:sp>
      <p:sp>
        <p:nvSpPr>
          <p:cNvPr id="9" name="Rounded Rectangle 8"/>
          <p:cNvSpPr/>
          <p:nvPr/>
        </p:nvSpPr>
        <p:spPr>
          <a:xfrm>
            <a:off x="6231572" y="2423160"/>
            <a:ext cx="5500052" cy="2377440"/>
          </a:xfrm>
          <a:prstGeom prst="roundRect">
            <a:avLst>
              <a:gd name="adj" fmla="val 6000"/>
            </a:avLst>
          </a:prstGeom>
          <a:solidFill>
            <a:srgbClr val="EAF0F8"/>
          </a:solidFill>
          <a:ln>
            <a:noFill/>
          </a:ln>
          <a:effectLst/>
        </p:spPr>
        <p:txBody>
          <a:bodyPr rtlCol="0" anchor="ctr"/>
          <a:lstStyle/>
          <a:p/>
        </p:txBody>
      </p:sp>
      <p:sp>
        <p:nvSpPr>
          <p:cNvPr id="10" name="TextBox 9"/>
          <p:cNvSpPr txBox="1"/>
          <p:nvPr/>
        </p:nvSpPr>
        <p:spPr>
          <a:xfrm>
            <a:off x="6597332" y="2651760"/>
            <a:ext cx="1097280" cy="1097280"/>
          </a:xfrm>
          <a:prstGeom prst="rect">
            <a:avLst/>
          </a:prstGeom>
          <a:noFill/>
        </p:spPr>
        <p:txBody>
          <a:bodyPr wrap="square" lIns="0" rIns="0" tIns="0" bIns="0" anchor="t">
            <a:spAutoFit/>
          </a:bodyPr>
          <a:lstStyle/>
          <a:p>
            <a:pPr algn="l">
              <a:lnSpc>
                <a:spcPct val="110000"/>
              </a:lnSpc>
              <a:spcAft>
                <a:spcPts val="0"/>
              </a:spcAft>
            </a:pPr>
            <a:r>
              <a:rPr sz="6000" b="1" i="0">
                <a:solidFill>
                  <a:srgbClr val="1C3A6E"/>
                </a:solidFill>
                <a:latin typeface="Arial"/>
              </a:rPr>
              <a:t>B</a:t>
            </a:r>
          </a:p>
        </p:txBody>
      </p:sp>
      <p:sp>
        <p:nvSpPr>
          <p:cNvPr id="11" name="TextBox 10"/>
          <p:cNvSpPr txBox="1"/>
          <p:nvPr/>
        </p:nvSpPr>
        <p:spPr>
          <a:xfrm>
            <a:off x="6597332" y="3703320"/>
            <a:ext cx="476853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Một người có gu giống bạn</a:t>
            </a:r>
          </a:p>
        </p:txBody>
      </p:sp>
      <p:sp>
        <p:nvSpPr>
          <p:cNvPr id="12" name="TextBox 11"/>
          <p:cNvSpPr txBox="1"/>
          <p:nvPr/>
        </p:nvSpPr>
        <p:spPr>
          <a:xfrm>
            <a:off x="6597332" y="4160520"/>
            <a:ext cx="4768532" cy="457200"/>
          </a:xfrm>
          <a:prstGeom prst="rect">
            <a:avLst/>
          </a:prstGeom>
          <a:noFill/>
        </p:spPr>
        <p:txBody>
          <a:bodyPr wrap="square" lIns="0" rIns="0" tIns="0" bIns="0" anchor="t">
            <a:spAutoFit/>
          </a:bodyPr>
          <a:lstStyle/>
          <a:p>
            <a:pPr algn="l">
              <a:lnSpc>
                <a:spcPct val="110000"/>
              </a:lnSpc>
              <a:spcAft>
                <a:spcPts val="0"/>
              </a:spcAft>
            </a:pPr>
            <a:r>
              <a:rPr sz="1600" b="0" i="0">
                <a:solidFill>
                  <a:srgbClr val="5F6B7A"/>
                </a:solidFill>
                <a:latin typeface="Arial"/>
              </a:rPr>
              <a:t>đã thích đúng những phim bạn từng thích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Người có gu giống bạn đoán đúng hơn nhà phê bình</a:t>
            </a:r>
          </a:p>
        </p:txBody>
      </p:sp>
      <p:sp>
        <p:nvSpPr>
          <p:cNvPr id="4" name="TextBox 3"/>
          <p:cNvSpPr txBox="1"/>
          <p:nvPr/>
        </p:nvSpPr>
        <p:spPr>
          <a:xfrm>
            <a:off x="457200" y="1325880"/>
            <a:ext cx="10515600" cy="82296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Hill và cộng sự (1995): 291 người, 1.750 phim, 55.000 lượt chấm. Dự đoán điểm từng người sẽ chấm, rồi so với điểm họ chấm thật sau đó.</a:t>
            </a:r>
          </a:p>
        </p:txBody>
      </p:sp>
      <p:sp>
        <p:nvSpPr>
          <p:cNvPr id="5" name="TextBox 4"/>
          <p:cNvSpPr txBox="1"/>
          <p:nvPr/>
        </p:nvSpPr>
        <p:spPr>
          <a:xfrm>
            <a:off x="457200" y="2331720"/>
            <a:ext cx="7315200" cy="365760"/>
          </a:xfrm>
          <a:prstGeom prst="rect">
            <a:avLst/>
          </a:prstGeom>
          <a:noFill/>
        </p:spPr>
        <p:txBody>
          <a:bodyPr wrap="square" lIns="0" rIns="0" tIns="0" bIns="0" anchor="t">
            <a:spAutoFit/>
          </a:bodyPr>
          <a:lstStyle/>
          <a:p>
            <a:pPr algn="l">
              <a:lnSpc>
                <a:spcPct val="110000"/>
              </a:lnSpc>
              <a:spcAft>
                <a:spcPts val="0"/>
              </a:spcAft>
            </a:pPr>
            <a:r>
              <a:rPr sz="1400" b="0" i="0">
                <a:solidFill>
                  <a:srgbClr val="5F6B7A"/>
                </a:solidFill>
                <a:latin typeface="Arial"/>
              </a:rPr>
              <a:t>Tương quan giữa dự đoán và điểm chấm thật</a:t>
            </a:r>
          </a:p>
        </p:txBody>
      </p:sp>
      <p:sp>
        <p:nvSpPr>
          <p:cNvPr id="6" name="TextBox 5"/>
          <p:cNvSpPr txBox="1"/>
          <p:nvPr/>
        </p:nvSpPr>
        <p:spPr>
          <a:xfrm>
            <a:off x="457200" y="2834640"/>
            <a:ext cx="2560320" cy="64008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Từ người có gu giống</a:t>
            </a:r>
          </a:p>
        </p:txBody>
      </p:sp>
      <p:sp>
        <p:nvSpPr>
          <p:cNvPr id="7" name="Rectangle 6"/>
          <p:cNvSpPr/>
          <p:nvPr/>
        </p:nvSpPr>
        <p:spPr>
          <a:xfrm>
            <a:off x="3200400" y="2834640"/>
            <a:ext cx="3968496" cy="640080"/>
          </a:xfrm>
          <a:prstGeom prst="rect">
            <a:avLst/>
          </a:prstGeom>
          <a:solidFill>
            <a:srgbClr val="1C3A6E"/>
          </a:solidFill>
          <a:ln>
            <a:noFill/>
          </a:ln>
          <a:effectLst/>
        </p:spPr>
        <p:txBody>
          <a:bodyPr rtlCol="0" anchor="ctr"/>
          <a:lstStyle/>
          <a:p/>
        </p:txBody>
      </p:sp>
      <p:sp>
        <p:nvSpPr>
          <p:cNvPr id="8" name="TextBox 7"/>
          <p:cNvSpPr txBox="1"/>
          <p:nvPr/>
        </p:nvSpPr>
        <p:spPr>
          <a:xfrm>
            <a:off x="7306056" y="2834640"/>
            <a:ext cx="2286000" cy="64008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0,62</a:t>
            </a:r>
          </a:p>
        </p:txBody>
      </p:sp>
      <p:sp>
        <p:nvSpPr>
          <p:cNvPr id="9" name="TextBox 8"/>
          <p:cNvSpPr txBox="1"/>
          <p:nvPr/>
        </p:nvSpPr>
        <p:spPr>
          <a:xfrm>
            <a:off x="457200" y="3657600"/>
            <a:ext cx="2560320" cy="64008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Từ nhà phê bình</a:t>
            </a:r>
          </a:p>
        </p:txBody>
      </p:sp>
      <p:sp>
        <p:nvSpPr>
          <p:cNvPr id="10" name="Rectangle 9"/>
          <p:cNvSpPr/>
          <p:nvPr/>
        </p:nvSpPr>
        <p:spPr>
          <a:xfrm>
            <a:off x="3200400" y="3657600"/>
            <a:ext cx="1408176" cy="640080"/>
          </a:xfrm>
          <a:prstGeom prst="rect">
            <a:avLst/>
          </a:prstGeom>
          <a:solidFill>
            <a:srgbClr val="8C9AAD"/>
          </a:solidFill>
          <a:ln>
            <a:noFill/>
          </a:ln>
          <a:effectLst/>
        </p:spPr>
        <p:txBody>
          <a:bodyPr rtlCol="0" anchor="ctr"/>
          <a:lstStyle/>
          <a:p/>
        </p:txBody>
      </p:sp>
      <p:sp>
        <p:nvSpPr>
          <p:cNvPr id="11" name="TextBox 10"/>
          <p:cNvSpPr txBox="1"/>
          <p:nvPr/>
        </p:nvSpPr>
        <p:spPr>
          <a:xfrm>
            <a:off x="4745736" y="3657600"/>
            <a:ext cx="2286000" cy="640080"/>
          </a:xfrm>
          <a:prstGeom prst="rect">
            <a:avLst/>
          </a:prstGeom>
          <a:noFill/>
        </p:spPr>
        <p:txBody>
          <a:bodyPr wrap="square" lIns="0" rIns="0" tIns="0" bIns="0" anchor="ctr">
            <a:spAutoFit/>
          </a:bodyPr>
          <a:lstStyle/>
          <a:p>
            <a:pPr algn="l">
              <a:lnSpc>
                <a:spcPct val="110000"/>
              </a:lnSpc>
              <a:spcAft>
                <a:spcPts val="0"/>
              </a:spcAft>
            </a:pPr>
            <a:r>
              <a:rPr sz="3200" b="1" i="0">
                <a:solidFill>
                  <a:srgbClr val="8C9AAD"/>
                </a:solidFill>
                <a:latin typeface="Arial"/>
              </a:rPr>
              <a:t>0,22</a:t>
            </a:r>
          </a:p>
        </p:txBody>
      </p:sp>
      <p:sp>
        <p:nvSpPr>
          <p:cNvPr id="12" name="Rounded Rectangle 11"/>
          <p:cNvSpPr/>
          <p:nvPr/>
        </p:nvSpPr>
        <p:spPr>
          <a:xfrm>
            <a:off x="457200" y="5669280"/>
            <a:ext cx="11274425" cy="64008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566928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Đây là ý tưởng gốc của lọc cộng tác, phương pháp đứng sau phần lớn hệ gợi ý hiện nay</a:t>
            </a:r>
          </a:p>
        </p:txBody>
      </p:sp>
      <p:sp>
        <p:nvSpPr>
          <p:cNvPr id="14" name="TextBox 13"/>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Hill, Stead, Rosenstein &amp; Furnas (CHI 1995)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Sáu câu hỏi của buổi học</a:t>
            </a:r>
          </a:p>
        </p:txBody>
      </p:sp>
      <p:sp>
        <p:nvSpPr>
          <p:cNvPr id="4" name="TextBox 3"/>
          <p:cNvSpPr txBox="1"/>
          <p:nvPr/>
        </p:nvSpPr>
        <p:spPr>
          <a:xfrm>
            <a:off x="1234440" y="1325880"/>
            <a:ext cx="5760720" cy="365760"/>
          </a:xfrm>
          <a:prstGeom prst="rect">
            <a:avLst/>
          </a:prstGeom>
          <a:noFill/>
        </p:spPr>
        <p:txBody>
          <a:bodyPr wrap="square" lIns="0" rIns="0" tIns="0" bIns="0" anchor="t">
            <a:spAutoFit/>
          </a:bodyPr>
          <a:lstStyle/>
          <a:p>
            <a:pPr algn="l">
              <a:lnSpc>
                <a:spcPct val="110000"/>
              </a:lnSpc>
              <a:spcAft>
                <a:spcPts val="0"/>
              </a:spcAft>
            </a:pPr>
            <a:r>
              <a:rPr sz="1400" b="1" i="0">
                <a:solidFill>
                  <a:srgbClr val="5F6B7A"/>
                </a:solidFill>
                <a:latin typeface="Arial"/>
              </a:rPr>
              <a:t>Câu hỏi về hệ gợi ý</a:t>
            </a:r>
          </a:p>
        </p:txBody>
      </p:sp>
      <p:sp>
        <p:nvSpPr>
          <p:cNvPr id="5" name="TextBox 4"/>
          <p:cNvSpPr txBox="1"/>
          <p:nvPr/>
        </p:nvSpPr>
        <p:spPr>
          <a:xfrm>
            <a:off x="7223760" y="1325880"/>
            <a:ext cx="4480560" cy="365760"/>
          </a:xfrm>
          <a:prstGeom prst="rect">
            <a:avLst/>
          </a:prstGeom>
          <a:noFill/>
        </p:spPr>
        <p:txBody>
          <a:bodyPr wrap="square" lIns="0" rIns="0" tIns="0" bIns="0" anchor="t">
            <a:spAutoFit/>
          </a:bodyPr>
          <a:lstStyle/>
          <a:p>
            <a:pPr algn="l">
              <a:lnSpc>
                <a:spcPct val="110000"/>
              </a:lnSpc>
              <a:spcAft>
                <a:spcPts val="0"/>
              </a:spcAft>
            </a:pPr>
            <a:r>
              <a:rPr sz="1400" b="1" i="0">
                <a:solidFill>
                  <a:srgbClr val="5F6B7A"/>
                </a:solidFill>
                <a:latin typeface="Arial"/>
              </a:rPr>
              <a:t>Ví dụ dùng để trả lời</a:t>
            </a:r>
          </a:p>
        </p:txBody>
      </p:sp>
      <p:cxnSp>
        <p:nvCxnSpPr>
          <p:cNvPr id="6" name="Connector 5"/>
          <p:cNvCxnSpPr/>
          <p:nvPr/>
        </p:nvCxnSpPr>
        <p:spPr>
          <a:xfrm>
            <a:off x="457200" y="1737360"/>
            <a:ext cx="11274425" cy="0"/>
          </a:xfrm>
          <a:prstGeom prst="line">
            <a:avLst/>
          </a:prstGeom>
          <a:ln w="9525">
            <a:solidFill>
              <a:srgbClr val="C9D3E1"/>
            </a:solidFill>
          </a:ln>
        </p:spPr>
      </p:cxnSp>
      <p:sp>
        <p:nvSpPr>
          <p:cNvPr id="7" name="TextBox 6"/>
          <p:cNvSpPr txBox="1"/>
          <p:nvPr/>
        </p:nvSpPr>
        <p:spPr>
          <a:xfrm>
            <a:off x="457200" y="1737360"/>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1</a:t>
            </a:r>
          </a:p>
        </p:txBody>
      </p:sp>
      <p:sp>
        <p:nvSpPr>
          <p:cNvPr id="8" name="TextBox 7"/>
          <p:cNvSpPr txBox="1"/>
          <p:nvPr/>
        </p:nvSpPr>
        <p:spPr>
          <a:xfrm>
            <a:off x="1234440" y="1737360"/>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Hệ gợi ý giải bài toán gì?</a:t>
            </a:r>
          </a:p>
        </p:txBody>
      </p:sp>
      <p:sp>
        <p:nvSpPr>
          <p:cNvPr id="9" name="TextBox 8"/>
          <p:cNvSpPr txBox="1"/>
          <p:nvPr/>
        </p:nvSpPr>
        <p:spPr>
          <a:xfrm>
            <a:off x="7223760" y="1737360"/>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Trang chủ Netflix: vài chục ô, hàng nghìn phim</a:t>
            </a:r>
          </a:p>
        </p:txBody>
      </p:sp>
      <p:cxnSp>
        <p:nvCxnSpPr>
          <p:cNvPr id="10" name="Connector 9"/>
          <p:cNvCxnSpPr/>
          <p:nvPr/>
        </p:nvCxnSpPr>
        <p:spPr>
          <a:xfrm>
            <a:off x="457200" y="2450592"/>
            <a:ext cx="11274425" cy="0"/>
          </a:xfrm>
          <a:prstGeom prst="line">
            <a:avLst/>
          </a:prstGeom>
          <a:ln w="9525">
            <a:solidFill>
              <a:srgbClr val="C9D3E1"/>
            </a:solidFill>
          </a:ln>
        </p:spPr>
      </p:cxnSp>
      <p:sp>
        <p:nvSpPr>
          <p:cNvPr id="11" name="TextBox 10"/>
          <p:cNvSpPr txBox="1"/>
          <p:nvPr/>
        </p:nvSpPr>
        <p:spPr>
          <a:xfrm>
            <a:off x="457200" y="2450592"/>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2</a:t>
            </a:r>
          </a:p>
        </p:txBody>
      </p:sp>
      <p:sp>
        <p:nvSpPr>
          <p:cNvPr id="12" name="TextBox 11"/>
          <p:cNvSpPr txBox="1"/>
          <p:nvPr/>
        </p:nvSpPr>
        <p:spPr>
          <a:xfrm>
            <a:off x="1234440" y="2450592"/>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Hệ gợi ý học từ dữ liệu nào?</a:t>
            </a:r>
          </a:p>
        </p:txBody>
      </p:sp>
      <p:sp>
        <p:nvSpPr>
          <p:cNvPr id="13" name="TextBox 12"/>
          <p:cNvSpPr txBox="1"/>
          <p:nvPr/>
        </p:nvSpPr>
        <p:spPr>
          <a:xfrm>
            <a:off x="7223760" y="2450592"/>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Từ 5 sao sang Thích / Không thích</a:t>
            </a:r>
          </a:p>
        </p:txBody>
      </p:sp>
      <p:cxnSp>
        <p:nvCxnSpPr>
          <p:cNvPr id="14" name="Connector 13"/>
          <p:cNvCxnSpPr/>
          <p:nvPr/>
        </p:nvCxnSpPr>
        <p:spPr>
          <a:xfrm>
            <a:off x="457200" y="3163824"/>
            <a:ext cx="11274425" cy="0"/>
          </a:xfrm>
          <a:prstGeom prst="line">
            <a:avLst/>
          </a:prstGeom>
          <a:ln w="9525">
            <a:solidFill>
              <a:srgbClr val="C9D3E1"/>
            </a:solidFill>
          </a:ln>
        </p:spPr>
      </p:cxnSp>
      <p:sp>
        <p:nvSpPr>
          <p:cNvPr id="15" name="TextBox 14"/>
          <p:cNvSpPr txBox="1"/>
          <p:nvPr/>
        </p:nvSpPr>
        <p:spPr>
          <a:xfrm>
            <a:off x="457200" y="3163824"/>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3</a:t>
            </a:r>
          </a:p>
        </p:txBody>
      </p:sp>
      <p:sp>
        <p:nvSpPr>
          <p:cNvPr id="16" name="TextBox 15"/>
          <p:cNvSpPr txBox="1"/>
          <p:nvPr/>
        </p:nvSpPr>
        <p:spPr>
          <a:xfrm>
            <a:off x="1234440" y="3163824"/>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Gợi ý dựa vào nội dung hay vào người khác?</a:t>
            </a:r>
          </a:p>
        </p:txBody>
      </p:sp>
      <p:sp>
        <p:nvSpPr>
          <p:cNvPr id="17" name="TextBox 16"/>
          <p:cNvSpPr txBox="1"/>
          <p:nvPr/>
        </p:nvSpPr>
        <p:spPr>
          <a:xfrm>
            <a:off x="7223760" y="3163824"/>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Hàng “Vì bạn đã xem…”, dữ liệu MovieLens</a:t>
            </a:r>
          </a:p>
        </p:txBody>
      </p:sp>
      <p:cxnSp>
        <p:nvCxnSpPr>
          <p:cNvPr id="18" name="Connector 17"/>
          <p:cNvCxnSpPr/>
          <p:nvPr/>
        </p:nvCxnSpPr>
        <p:spPr>
          <a:xfrm>
            <a:off x="457200" y="3877056"/>
            <a:ext cx="11274425" cy="0"/>
          </a:xfrm>
          <a:prstGeom prst="line">
            <a:avLst/>
          </a:prstGeom>
          <a:ln w="9525">
            <a:solidFill>
              <a:srgbClr val="C9D3E1"/>
            </a:solidFill>
          </a:ln>
        </p:spPr>
      </p:cxnSp>
      <p:sp>
        <p:nvSpPr>
          <p:cNvPr id="19" name="TextBox 18"/>
          <p:cNvSpPr txBox="1"/>
          <p:nvPr/>
        </p:nvSpPr>
        <p:spPr>
          <a:xfrm>
            <a:off x="457200" y="3877056"/>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4</a:t>
            </a:r>
          </a:p>
        </p:txBody>
      </p:sp>
      <p:sp>
        <p:nvSpPr>
          <p:cNvPr id="20" name="TextBox 19"/>
          <p:cNvSpPr txBox="1"/>
          <p:nvPr/>
        </p:nvSpPr>
        <p:spPr>
          <a:xfrm>
            <a:off x="1234440" y="3877056"/>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Làm sao biết hệ gợi ý tốt?</a:t>
            </a:r>
          </a:p>
        </p:txBody>
      </p:sp>
      <p:sp>
        <p:nvSpPr>
          <p:cNvPr id="21" name="TextBox 20"/>
          <p:cNvSpPr txBox="1"/>
          <p:nvPr/>
        </p:nvSpPr>
        <p:spPr>
          <a:xfrm>
            <a:off x="7223760" y="3877056"/>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Netflix Prize, thử lại trên MovieLens</a:t>
            </a:r>
          </a:p>
        </p:txBody>
      </p:sp>
      <p:cxnSp>
        <p:nvCxnSpPr>
          <p:cNvPr id="22" name="Connector 21"/>
          <p:cNvCxnSpPr/>
          <p:nvPr/>
        </p:nvCxnSpPr>
        <p:spPr>
          <a:xfrm>
            <a:off x="457200" y="4590288"/>
            <a:ext cx="11274425" cy="0"/>
          </a:xfrm>
          <a:prstGeom prst="line">
            <a:avLst/>
          </a:prstGeom>
          <a:ln w="9525">
            <a:solidFill>
              <a:srgbClr val="C9D3E1"/>
            </a:solidFill>
          </a:ln>
        </p:spPr>
      </p:cxnSp>
      <p:sp>
        <p:nvSpPr>
          <p:cNvPr id="23" name="TextBox 22"/>
          <p:cNvSpPr txBox="1"/>
          <p:nvPr/>
        </p:nvSpPr>
        <p:spPr>
          <a:xfrm>
            <a:off x="457200" y="4590288"/>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5</a:t>
            </a:r>
          </a:p>
        </p:txBody>
      </p:sp>
      <p:sp>
        <p:nvSpPr>
          <p:cNvPr id="24" name="TextBox 23"/>
          <p:cNvSpPr txBox="1"/>
          <p:nvPr/>
        </p:nvSpPr>
        <p:spPr>
          <a:xfrm>
            <a:off x="1234440" y="4590288"/>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Sản phẩm mới, người dùng mới thì sao?</a:t>
            </a:r>
          </a:p>
        </p:txBody>
      </p:sp>
      <p:sp>
        <p:nvSpPr>
          <p:cNvPr id="25" name="TextBox 24"/>
          <p:cNvSpPr txBox="1"/>
          <p:nvPr/>
        </p:nvSpPr>
        <p:spPr>
          <a:xfrm>
            <a:off x="7223760" y="4590288"/>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Phim mới ra mắt, chưa ai xem</a:t>
            </a:r>
          </a:p>
        </p:txBody>
      </p:sp>
      <p:cxnSp>
        <p:nvCxnSpPr>
          <p:cNvPr id="26" name="Connector 25"/>
          <p:cNvCxnSpPr/>
          <p:nvPr/>
        </p:nvCxnSpPr>
        <p:spPr>
          <a:xfrm>
            <a:off x="457200" y="5303520"/>
            <a:ext cx="11274425" cy="0"/>
          </a:xfrm>
          <a:prstGeom prst="line">
            <a:avLst/>
          </a:prstGeom>
          <a:ln w="9525">
            <a:solidFill>
              <a:srgbClr val="C9D3E1"/>
            </a:solidFill>
          </a:ln>
        </p:spPr>
      </p:cxnSp>
      <p:sp>
        <p:nvSpPr>
          <p:cNvPr id="27" name="TextBox 26"/>
          <p:cNvSpPr txBox="1"/>
          <p:nvPr/>
        </p:nvSpPr>
        <p:spPr>
          <a:xfrm>
            <a:off x="457200" y="5303520"/>
            <a:ext cx="640080" cy="713232"/>
          </a:xfrm>
          <a:prstGeom prst="rect">
            <a:avLst/>
          </a:prstGeom>
          <a:noFill/>
        </p:spPr>
        <p:txBody>
          <a:bodyPr wrap="square" lIns="0" rIns="0" tIns="0" bIns="0" anchor="ctr">
            <a:spAutoFit/>
          </a:bodyPr>
          <a:lstStyle/>
          <a:p>
            <a:pPr algn="l">
              <a:lnSpc>
                <a:spcPct val="110000"/>
              </a:lnSpc>
              <a:spcAft>
                <a:spcPts val="0"/>
              </a:spcAft>
            </a:pPr>
            <a:r>
              <a:rPr sz="2600" b="1" i="0">
                <a:solidFill>
                  <a:srgbClr val="1C3A6E"/>
                </a:solidFill>
                <a:latin typeface="Arial"/>
              </a:rPr>
              <a:t>6</a:t>
            </a:r>
          </a:p>
        </p:txBody>
      </p:sp>
      <p:sp>
        <p:nvSpPr>
          <p:cNvPr id="28" name="TextBox 27"/>
          <p:cNvSpPr txBox="1"/>
          <p:nvPr/>
        </p:nvSpPr>
        <p:spPr>
          <a:xfrm>
            <a:off x="1234440" y="5303520"/>
            <a:ext cx="5852160" cy="713232"/>
          </a:xfrm>
          <a:prstGeom prst="rect">
            <a:avLst/>
          </a:prstGeom>
          <a:noFill/>
        </p:spPr>
        <p:txBody>
          <a:bodyPr wrap="square" lIns="0" rIns="0" tIns="0" bIns="0" anchor="ctr">
            <a:spAutoFit/>
          </a:bodyPr>
          <a:lstStyle/>
          <a:p>
            <a:pPr algn="l">
              <a:lnSpc>
                <a:spcPct val="110000"/>
              </a:lnSpc>
              <a:spcAft>
                <a:spcPts val="0"/>
              </a:spcAft>
            </a:pPr>
            <a:r>
              <a:rPr sz="2000" b="1" i="0">
                <a:solidFill>
                  <a:srgbClr val="1C3A6E"/>
                </a:solidFill>
                <a:latin typeface="Arial"/>
              </a:rPr>
              <a:t>Giá trị kinh doanh đo bằng gì?</a:t>
            </a:r>
          </a:p>
        </p:txBody>
      </p:sp>
      <p:sp>
        <p:nvSpPr>
          <p:cNvPr id="29" name="TextBox 28"/>
          <p:cNvSpPr txBox="1"/>
          <p:nvPr/>
        </p:nvSpPr>
        <p:spPr>
          <a:xfrm>
            <a:off x="7223760" y="5303520"/>
            <a:ext cx="4480560" cy="713232"/>
          </a:xfrm>
          <a:prstGeom prst="rect">
            <a:avLst/>
          </a:prstGeom>
          <a:noFill/>
        </p:spPr>
        <p:txBody>
          <a:bodyPr wrap="square" lIns="0" rIns="0" tIns="0" bIns="0" anchor="ctr">
            <a:spAutoFit/>
          </a:bodyPr>
          <a:lstStyle/>
          <a:p>
            <a:pPr algn="l">
              <a:lnSpc>
                <a:spcPct val="110000"/>
              </a:lnSpc>
              <a:spcAft>
                <a:spcPts val="0"/>
              </a:spcAft>
            </a:pPr>
            <a:r>
              <a:rPr sz="1500" b="0" i="0">
                <a:solidFill>
                  <a:srgbClr val="5F6B7A"/>
                </a:solidFill>
                <a:latin typeface="Arial"/>
              </a:rPr>
              <a:t>A/B test và tỷ lệ giữ chân của Netflix</a:t>
            </a:r>
          </a:p>
        </p:txBody>
      </p:sp>
      <p:cxnSp>
        <p:nvCxnSpPr>
          <p:cNvPr id="30" name="Connector 29"/>
          <p:cNvCxnSpPr/>
          <p:nvPr/>
        </p:nvCxnSpPr>
        <p:spPr>
          <a:xfrm>
            <a:off x="457200" y="6016752"/>
            <a:ext cx="11274425" cy="0"/>
          </a:xfrm>
          <a:prstGeom prst="line">
            <a:avLst/>
          </a:prstGeom>
          <a:ln w="9525">
            <a:solidFill>
              <a:srgbClr val="C9D3E1"/>
            </a:solidFill>
          </a:ln>
        </p:spPr>
      </p:cxnSp>
      <p:sp>
        <p:nvSpPr>
          <p:cNvPr id="31" name="TextBox 3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Gomez-Uribe &amp; Hunt (2015), ACM TMIS — số liệu do Netflix tự công bố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1</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Hệ gợi ý giải bài toán gì?</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Gợi ý không phải là đoán sở thích, mà là chọn thứ để hiển thị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Màn hình có vài chục ô, kho có hàng nghìn phim</a:t>
            </a:r>
          </a:p>
        </p:txBody>
      </p:sp>
      <p:pic>
        <p:nvPicPr>
          <p:cNvPr id="4" name="Picture 3" descr="image5.png"/>
          <p:cNvPicPr>
            <a:picLocks noChangeAspect="1"/>
          </p:cNvPicPr>
          <p:nvPr/>
        </p:nvPicPr>
        <p:blipFill>
          <a:blip r:embed="rId3"/>
          <a:stretch>
            <a:fillRect/>
          </a:stretch>
        </p:blipFill>
        <p:spPr>
          <a:xfrm>
            <a:off x="457200" y="1325880"/>
            <a:ext cx="11274425" cy="4308114"/>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1. </a:t>
            </a:r>
            <a:r>
              <a:rPr sz="1800" b="0" i="0">
                <a:solidFill>
                  <a:srgbClr val="26303D"/>
                </a:solidFill>
                <a:latin typeface="Arial"/>
              </a:rPr>
              <a:t>Đây là bài toán dự đoán hay bài toán ra quyết định? Nguồn lực nào đang khan hiếm?</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Minh hoạ: giao diện kiểu Netflix, tự vẽ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Hệ gợi ý chọn K trong hàng nghìn sản phẩm cho từng người</a:t>
            </a:r>
          </a:p>
        </p:txBody>
      </p:sp>
      <p:pic>
        <p:nvPicPr>
          <p:cNvPr id="4" name="Picture 3" descr="image6.png"/>
          <p:cNvPicPr>
            <a:picLocks noChangeAspect="1"/>
          </p:cNvPicPr>
          <p:nvPr/>
        </p:nvPicPr>
        <p:blipFill>
          <a:blip r:embed="rId3"/>
          <a:stretch>
            <a:fillRect/>
          </a:stretch>
        </p:blipFill>
        <p:spPr>
          <a:xfrm>
            <a:off x="1280160" y="1325880"/>
            <a:ext cx="9601200" cy="2653990"/>
          </a:xfrm>
          <a:prstGeom prst="rect">
            <a:avLst/>
          </a:prstGeom>
        </p:spPr>
      </p:pic>
      <p:sp>
        <p:nvSpPr>
          <p:cNvPr id="5" name="TextBox 4"/>
          <p:cNvSpPr txBox="1"/>
          <p:nvPr/>
        </p:nvSpPr>
        <p:spPr>
          <a:xfrm>
            <a:off x="457200"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Đầu vào</a:t>
            </a:r>
          </a:p>
        </p:txBody>
      </p:sp>
      <p:sp>
        <p:nvSpPr>
          <p:cNvPr id="6" name="TextBox 5"/>
          <p:cNvSpPr txBox="1"/>
          <p:nvPr/>
        </p:nvSpPr>
        <p:spPr>
          <a:xfrm>
            <a:off x="457200"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ai đang xem, đã làm gì, sản phẩm có gì</a:t>
            </a:r>
          </a:p>
        </p:txBody>
      </p:sp>
      <p:sp>
        <p:nvSpPr>
          <p:cNvPr id="7" name="TextBox 6"/>
          <p:cNvSpPr txBox="1"/>
          <p:nvPr/>
        </p:nvSpPr>
        <p:spPr>
          <a:xfrm>
            <a:off x="4306781"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Đầu ra</a:t>
            </a:r>
          </a:p>
        </p:txBody>
      </p:sp>
      <p:sp>
        <p:nvSpPr>
          <p:cNvPr id="8" name="TextBox 7"/>
          <p:cNvSpPr txBox="1"/>
          <p:nvPr/>
        </p:nvSpPr>
        <p:spPr>
          <a:xfrm>
            <a:off x="4306781"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danh sách ngắn, có thứ tự</a:t>
            </a:r>
          </a:p>
        </p:txBody>
      </p:sp>
      <p:sp>
        <p:nvSpPr>
          <p:cNvPr id="9" name="TextBox 8"/>
          <p:cNvSpPr txBox="1"/>
          <p:nvPr/>
        </p:nvSpPr>
        <p:spPr>
          <a:xfrm>
            <a:off x="8156362" y="4114800"/>
            <a:ext cx="3575261" cy="3657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Ràng buộc</a:t>
            </a:r>
          </a:p>
        </p:txBody>
      </p:sp>
      <p:sp>
        <p:nvSpPr>
          <p:cNvPr id="10" name="TextBox 9"/>
          <p:cNvSpPr txBox="1"/>
          <p:nvPr/>
        </p:nvSpPr>
        <p:spPr>
          <a:xfrm>
            <a:off x="8156362" y="4480560"/>
            <a:ext cx="3575261"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chỉ có K ô; thêm sản phẩm này là bớt sản phẩm khác</a:t>
            </a:r>
          </a:p>
        </p:txBody>
      </p:sp>
      <p:sp>
        <p:nvSpPr>
          <p:cNvPr id="11" name="Rounded Rectangle 10"/>
          <p:cNvSpPr/>
          <p:nvPr/>
        </p:nvSpPr>
        <p:spPr>
          <a:xfrm>
            <a:off x="457200" y="5486400"/>
            <a:ext cx="11274425" cy="685800"/>
          </a:xfrm>
          <a:prstGeom prst="roundRect">
            <a:avLst>
              <a:gd name="adj" fmla="val 8000"/>
            </a:avLst>
          </a:prstGeom>
          <a:solidFill>
            <a:srgbClr val="1C3A6E"/>
          </a:solidFill>
          <a:ln>
            <a:noFill/>
          </a:ln>
          <a:effectLst/>
        </p:spPr>
        <p:txBody>
          <a:bodyPr rtlCol="0" anchor="ctr"/>
          <a:lstStyle/>
          <a:p/>
        </p:txBody>
      </p:sp>
      <p:sp>
        <p:nvSpPr>
          <p:cNvPr id="12" name="TextBox 11"/>
          <p:cNvSpPr txBox="1"/>
          <p:nvPr/>
        </p:nvSpPr>
        <p:spPr>
          <a:xfrm>
            <a:off x="731520" y="5486400"/>
            <a:ext cx="10725785" cy="68580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Gợi ý là một quyết định phân bổ, giống các bài toán phân bổ nguồn lực đã học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2</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Hệ gợi ý học từ dữ liệu nào?</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Hai loại phản hồi, một ma trận gần như trống, và đuôi dài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Phản hồi tường minh thì hiếm, phản hồi ẩn thì nhiễu</a:t>
            </a:r>
          </a:p>
        </p:txBody>
      </p:sp>
      <p:sp>
        <p:nvSpPr>
          <p:cNvPr id="4" name="Rounded Rectangle 3"/>
          <p:cNvSpPr/>
          <p:nvPr/>
        </p:nvSpPr>
        <p:spPr>
          <a:xfrm>
            <a:off x="457200" y="1371600"/>
            <a:ext cx="5500052" cy="269748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77240" y="1554480"/>
            <a:ext cx="485997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Tường minh</a:t>
            </a:r>
          </a:p>
        </p:txBody>
      </p:sp>
      <p:sp>
        <p:nvSpPr>
          <p:cNvPr id="6" name="TextBox 5"/>
          <p:cNvSpPr txBox="1"/>
          <p:nvPr/>
        </p:nvSpPr>
        <p:spPr>
          <a:xfrm>
            <a:off x="777240" y="2011680"/>
            <a:ext cx="4859972" cy="365760"/>
          </a:xfrm>
          <a:prstGeom prst="rect">
            <a:avLst/>
          </a:prstGeom>
          <a:noFill/>
        </p:spPr>
        <p:txBody>
          <a:bodyPr wrap="square" lIns="0" rIns="0" tIns="0" bIns="0" anchor="t">
            <a:spAutoFit/>
          </a:bodyPr>
          <a:lstStyle/>
          <a:p>
            <a:pPr algn="l">
              <a:lnSpc>
                <a:spcPct val="110000"/>
              </a:lnSpc>
              <a:spcAft>
                <a:spcPts val="0"/>
              </a:spcAft>
            </a:pPr>
            <a:r>
              <a:rPr sz="1500" b="0" i="0">
                <a:solidFill>
                  <a:srgbClr val="5F6B7A"/>
                </a:solidFill>
                <a:latin typeface="Arial"/>
              </a:rPr>
              <a:t>người dùng tự nói thích hay không</a:t>
            </a:r>
          </a:p>
        </p:txBody>
      </p:sp>
      <p:sp>
        <p:nvSpPr>
          <p:cNvPr id="7" name="TextBox 6"/>
          <p:cNvSpPr txBox="1"/>
          <p:nvPr/>
        </p:nvSpPr>
        <p:spPr>
          <a:xfrm>
            <a:off x="777240" y="2468880"/>
            <a:ext cx="4859972" cy="1005840"/>
          </a:xfrm>
          <a:prstGeom prst="rect">
            <a:avLst/>
          </a:prstGeom>
          <a:noFill/>
        </p:spPr>
        <p:txBody>
          <a:bodyPr wrap="square" lIns="0" rIns="0" tIns="0" bIns="0" anchor="t">
            <a:spAutoFit/>
          </a:bodyPr>
          <a:lstStyle/>
          <a:p>
            <a:pPr algn="l" marL="223520" indent="-223520">
              <a:lnSpc>
                <a:spcPct val="110000"/>
              </a:lnSpc>
              <a:spcAft>
                <a:spcPts val="300"/>
              </a:spcAft>
              <a:buFont typeface="Arial"/>
              <a:buChar char="•"/>
            </a:pPr>
            <a:r>
              <a:rPr sz="1600" b="0" i="0">
                <a:solidFill>
                  <a:srgbClr val="26303D"/>
                </a:solidFill>
                <a:latin typeface="Arial"/>
              </a:rPr>
              <a:t>chấm 1–5 sao</a:t>
            </a:r>
          </a:p>
          <a:p>
            <a:pPr algn="l" marL="223520" indent="-223520">
              <a:lnSpc>
                <a:spcPct val="110000"/>
              </a:lnSpc>
              <a:spcAft>
                <a:spcPts val="300"/>
              </a:spcAft>
              <a:buFont typeface="Arial"/>
              <a:buChar char="•"/>
            </a:pPr>
            <a:r>
              <a:rPr sz="1600" b="0" i="0">
                <a:solidFill>
                  <a:srgbClr val="26303D"/>
                </a:solidFill>
                <a:latin typeface="Arial"/>
              </a:rPr>
              <a:t>bấm Thích / Không thích</a:t>
            </a:r>
          </a:p>
          <a:p>
            <a:pPr algn="l" marL="223520" indent="-223520">
              <a:lnSpc>
                <a:spcPct val="110000"/>
              </a:lnSpc>
              <a:spcAft>
                <a:spcPts val="300"/>
              </a:spcAft>
              <a:buFont typeface="Arial"/>
              <a:buChar char="•"/>
            </a:pPr>
            <a:r>
              <a:rPr sz="1600" b="0" i="0">
                <a:solidFill>
                  <a:srgbClr val="26303D"/>
                </a:solidFill>
                <a:latin typeface="Arial"/>
              </a:rPr>
              <a:t>viết đánh giá</a:t>
            </a:r>
          </a:p>
        </p:txBody>
      </p:sp>
      <p:sp>
        <p:nvSpPr>
          <p:cNvPr id="8" name="TextBox 7"/>
          <p:cNvSpPr txBox="1"/>
          <p:nvPr/>
        </p:nvSpPr>
        <p:spPr>
          <a:xfrm>
            <a:off x="777240" y="3520440"/>
            <a:ext cx="4859972" cy="411480"/>
          </a:xfrm>
          <a:prstGeom prst="rect">
            <a:avLst/>
          </a:prstGeom>
          <a:noFill/>
        </p:spPr>
        <p:txBody>
          <a:bodyPr wrap="square" lIns="0" rIns="0" tIns="0" bIns="0" anchor="t">
            <a:spAutoFit/>
          </a:bodyPr>
          <a:lstStyle/>
          <a:p>
            <a:pPr algn="l">
              <a:lnSpc>
                <a:spcPct val="110000"/>
              </a:lnSpc>
              <a:spcAft>
                <a:spcPts val="0"/>
              </a:spcAft>
            </a:pPr>
            <a:r>
              <a:rPr sz="1600" b="1" i="0">
                <a:solidFill>
                  <a:srgbClr val="2E7D57"/>
                </a:solidFill>
                <a:latin typeface="Arial"/>
              </a:rPr>
              <a:t>rõ nghĩa, nhưng ít người làm</a:t>
            </a:r>
          </a:p>
        </p:txBody>
      </p:sp>
      <p:sp>
        <p:nvSpPr>
          <p:cNvPr id="9" name="Rounded Rectangle 8"/>
          <p:cNvSpPr/>
          <p:nvPr/>
        </p:nvSpPr>
        <p:spPr>
          <a:xfrm>
            <a:off x="6231572" y="1371600"/>
            <a:ext cx="5500052" cy="2697480"/>
          </a:xfrm>
          <a:prstGeom prst="roundRect">
            <a:avLst>
              <a:gd name="adj" fmla="val 6000"/>
            </a:avLst>
          </a:prstGeom>
          <a:solidFill>
            <a:srgbClr val="EAF0F8"/>
          </a:solidFill>
          <a:ln>
            <a:noFill/>
          </a:ln>
          <a:effectLst/>
        </p:spPr>
        <p:txBody>
          <a:bodyPr rtlCol="0" anchor="ctr"/>
          <a:lstStyle/>
          <a:p/>
        </p:txBody>
      </p:sp>
      <p:sp>
        <p:nvSpPr>
          <p:cNvPr id="10" name="TextBox 9"/>
          <p:cNvSpPr txBox="1"/>
          <p:nvPr/>
        </p:nvSpPr>
        <p:spPr>
          <a:xfrm>
            <a:off x="6551612" y="1554480"/>
            <a:ext cx="4859972" cy="45720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Ẩn</a:t>
            </a:r>
          </a:p>
        </p:txBody>
      </p:sp>
      <p:sp>
        <p:nvSpPr>
          <p:cNvPr id="11" name="TextBox 10"/>
          <p:cNvSpPr txBox="1"/>
          <p:nvPr/>
        </p:nvSpPr>
        <p:spPr>
          <a:xfrm>
            <a:off x="6551612" y="2011680"/>
            <a:ext cx="4859972" cy="365760"/>
          </a:xfrm>
          <a:prstGeom prst="rect">
            <a:avLst/>
          </a:prstGeom>
          <a:noFill/>
        </p:spPr>
        <p:txBody>
          <a:bodyPr wrap="square" lIns="0" rIns="0" tIns="0" bIns="0" anchor="t">
            <a:spAutoFit/>
          </a:bodyPr>
          <a:lstStyle/>
          <a:p>
            <a:pPr algn="l">
              <a:lnSpc>
                <a:spcPct val="110000"/>
              </a:lnSpc>
              <a:spcAft>
                <a:spcPts val="0"/>
              </a:spcAft>
            </a:pPr>
            <a:r>
              <a:rPr sz="1500" b="0" i="0">
                <a:solidFill>
                  <a:srgbClr val="5F6B7A"/>
                </a:solidFill>
                <a:latin typeface="Arial"/>
              </a:rPr>
              <a:t>suy ra từ hành vi</a:t>
            </a:r>
          </a:p>
        </p:txBody>
      </p:sp>
      <p:sp>
        <p:nvSpPr>
          <p:cNvPr id="12" name="TextBox 11"/>
          <p:cNvSpPr txBox="1"/>
          <p:nvPr/>
        </p:nvSpPr>
        <p:spPr>
          <a:xfrm>
            <a:off x="6551612" y="2468880"/>
            <a:ext cx="4859972" cy="1005840"/>
          </a:xfrm>
          <a:prstGeom prst="rect">
            <a:avLst/>
          </a:prstGeom>
          <a:noFill/>
        </p:spPr>
        <p:txBody>
          <a:bodyPr wrap="square" lIns="0" rIns="0" tIns="0" bIns="0" anchor="t">
            <a:spAutoFit/>
          </a:bodyPr>
          <a:lstStyle/>
          <a:p>
            <a:pPr algn="l" marL="223520" indent="-223520">
              <a:lnSpc>
                <a:spcPct val="110000"/>
              </a:lnSpc>
              <a:spcAft>
                <a:spcPts val="300"/>
              </a:spcAft>
              <a:buFont typeface="Arial"/>
              <a:buChar char="•"/>
            </a:pPr>
            <a:r>
              <a:rPr sz="1600" b="0" i="0">
                <a:solidFill>
                  <a:srgbClr val="26303D"/>
                </a:solidFill>
                <a:latin typeface="Arial"/>
              </a:rPr>
              <a:t>bấm xem, xem bao lâu, xem hết hay bỏ dở</a:t>
            </a:r>
          </a:p>
          <a:p>
            <a:pPr algn="l" marL="223520" indent="-223520">
              <a:lnSpc>
                <a:spcPct val="110000"/>
              </a:lnSpc>
              <a:spcAft>
                <a:spcPts val="300"/>
              </a:spcAft>
              <a:buFont typeface="Arial"/>
              <a:buChar char="•"/>
            </a:pPr>
            <a:r>
              <a:rPr sz="1600" b="0" i="0">
                <a:solidFill>
                  <a:srgbClr val="26303D"/>
                </a:solidFill>
                <a:latin typeface="Arial"/>
              </a:rPr>
              <a:t>tìm kiếm, thêm vào danh sách</a:t>
            </a:r>
          </a:p>
          <a:p>
            <a:pPr algn="l" marL="223520" indent="-223520">
              <a:lnSpc>
                <a:spcPct val="110000"/>
              </a:lnSpc>
              <a:spcAft>
                <a:spcPts val="300"/>
              </a:spcAft>
              <a:buFont typeface="Arial"/>
              <a:buChar char="•"/>
            </a:pPr>
            <a:r>
              <a:rPr sz="1600" b="0" i="0">
                <a:solidFill>
                  <a:srgbClr val="26303D"/>
                </a:solidFill>
                <a:latin typeface="Arial"/>
              </a:rPr>
              <a:t>với sàn TMĐT: xem, thêm giỏ, mua</a:t>
            </a:r>
          </a:p>
        </p:txBody>
      </p:sp>
      <p:sp>
        <p:nvSpPr>
          <p:cNvPr id="13" name="TextBox 12"/>
          <p:cNvSpPr txBox="1"/>
          <p:nvPr/>
        </p:nvSpPr>
        <p:spPr>
          <a:xfrm>
            <a:off x="6551612" y="3520440"/>
            <a:ext cx="4859972" cy="4114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rất nhiều, nhưng không nói rõ thích hay không</a:t>
            </a:r>
          </a:p>
        </p:txBody>
      </p:sp>
      <p:sp>
        <p:nvSpPr>
          <p:cNvPr id="14" name="TextBox 13"/>
          <p:cNvSpPr txBox="1"/>
          <p:nvPr/>
        </p:nvSpPr>
        <p:spPr>
          <a:xfrm>
            <a:off x="457200" y="4251960"/>
            <a:ext cx="11274425" cy="822960"/>
          </a:xfrm>
          <a:prstGeom prst="rect">
            <a:avLst/>
          </a:prstGeom>
          <a:noFill/>
        </p:spPr>
        <p:txBody>
          <a:bodyPr wrap="square" lIns="0" rIns="0" tIns="0" bIns="0" anchor="t">
            <a:spAutoFit/>
          </a:bodyPr>
          <a:lstStyle/>
          <a:p>
            <a:pPr algn="l">
              <a:lnSpc>
                <a:spcPct val="110000"/>
              </a:lnSpc>
              <a:spcAft>
                <a:spcPts val="0"/>
              </a:spcAft>
            </a:pPr>
            <a:r>
              <a:rPr sz="1600" b="1" i="0">
                <a:solidFill>
                  <a:srgbClr val="1C3A6E"/>
                </a:solidFill>
                <a:latin typeface="Arial"/>
              </a:rPr>
              <a:t>Ví dụ: </a:t>
            </a:r>
            <a:r>
              <a:rPr sz="1600" b="0" i="0">
                <a:solidFill>
                  <a:srgbClr val="26303D"/>
                </a:solidFill>
                <a:latin typeface="Arial"/>
              </a:rPr>
              <a:t>năm 2017 Netflix bỏ thang 5 sao, chuyển sang Thích / Không thích. Trong thử nghiệm, số lượt đánh giá tăng 200%.</a:t>
            </a:r>
          </a:p>
        </p:txBody>
      </p:sp>
      <p:sp>
        <p:nvSpPr>
          <p:cNvPr id="15" name="Rounded Rectangle 14"/>
          <p:cNvSpPr/>
          <p:nvPr/>
        </p:nvSpPr>
        <p:spPr>
          <a:xfrm>
            <a:off x="457200" y="5257800"/>
            <a:ext cx="11274425" cy="777240"/>
          </a:xfrm>
          <a:prstGeom prst="roundRect">
            <a:avLst>
              <a:gd name="adj" fmla="val 8000"/>
            </a:avLst>
          </a:prstGeom>
          <a:solidFill>
            <a:srgbClr val="FFF6D6"/>
          </a:solidFill>
          <a:ln>
            <a:noFill/>
          </a:ln>
          <a:effectLst/>
        </p:spPr>
        <p:txBody>
          <a:bodyPr rtlCol="0" anchor="ctr"/>
          <a:lstStyle/>
          <a:p/>
        </p:txBody>
      </p:sp>
      <p:sp>
        <p:nvSpPr>
          <p:cNvPr id="16" name="TextBox 15"/>
          <p:cNvSpPr txBox="1"/>
          <p:nvPr/>
        </p:nvSpPr>
        <p:spPr>
          <a:xfrm>
            <a:off x="731520" y="52578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2. </a:t>
            </a:r>
            <a:r>
              <a:rPr sz="1800" b="0" i="0">
                <a:solidFill>
                  <a:srgbClr val="26303D"/>
                </a:solidFill>
                <a:latin typeface="Arial"/>
              </a:rPr>
              <a:t>Vì sao một thang đo “kém chi tiết” hơn lại cho dữ liệu tốt hơn?</a:t>
            </a:r>
          </a:p>
        </p:txBody>
      </p:sp>
      <p:sp>
        <p:nvSpPr>
          <p:cNvPr id="17" name="TextBox 1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(5/4/2017), “Goodbye Stars, Hello Thumbs”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Bốn loại dữ liệu đầu vào</a:t>
            </a:r>
          </a:p>
        </p:txBody>
      </p:sp>
      <p:graphicFrame>
        <p:nvGraphicFramePr>
          <p:cNvPr id="4" name="Table 3"/>
          <p:cNvGraphicFramePr>
            <a:graphicFrameLocks noGrp="1"/>
          </p:cNvGraphicFramePr>
          <p:nvPr/>
        </p:nvGraphicFramePr>
        <p:xfrm>
          <a:off x="457200" y="1371600"/>
          <a:ext cx="11274552" cy="2249424"/>
        </p:xfrm>
        <a:graphic>
          <a:graphicData uri="http://schemas.openxmlformats.org/drawingml/2006/table">
            <a:tbl>
              <a:tblPr firstRow="1" bandRow="1">
                <a:tableStyleId>{5940675A-B579-460E-94D1-54222C63F5DA}</a:tableStyleId>
              </a:tblPr>
              <a:tblGrid>
                <a:gridCol w="1737360"/>
                <a:gridCol w="4818888"/>
                <a:gridCol w="4718304"/>
              </a:tblGrid>
              <a:tr h="548640">
                <a:tc>
                  <a:txBody>
                    <a:bodyPr wrap="square"/>
                    <a:lstStyle/>
                    <a:p>
                      <a:r>
                        <a:rPr sz="1600" b="1">
                          <a:solidFill>
                            <a:srgbClr val="FFFFFF"/>
                          </a:solidFill>
                          <a:latin typeface="Arial"/>
                        </a:rPr>
                        <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600" b="1">
                          <a:solidFill>
                            <a:srgbClr val="FFFFFF"/>
                          </a:solidFill>
                          <a:latin typeface="Arial"/>
                        </a:rPr>
                        <a:t>Về người dùng</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600" b="1">
                          <a:solidFill>
                            <a:srgbClr val="FFFFFF"/>
                          </a:solidFill>
                          <a:latin typeface="Arial"/>
                        </a:rPr>
                        <a:t>Về sản phẩm</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566928">
                <a:tc>
                  <a:txBody>
                    <a:bodyPr wrap="square"/>
                    <a:lstStyle/>
                    <a:p>
                      <a:r>
                        <a:rPr sz="1600" b="1">
                          <a:solidFill>
                            <a:srgbClr val="1C3A6E"/>
                          </a:solidFill>
                          <a:latin typeface="Arial"/>
                        </a:rPr>
                        <a:t>Hành vi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Phản hồi ẩn: xem, bấm, mua, tìm kiếm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566928">
                <a:tc>
                  <a:txBody>
                    <a:bodyPr wrap="square"/>
                    <a:lstStyle/>
                    <a:p>
                      <a:r>
                        <a:rPr sz="1600" b="1">
                          <a:solidFill>
                            <a:srgbClr val="1C3A6E"/>
                          </a:solidFill>
                          <a:latin typeface="Arial"/>
                        </a:rPr>
                        <a:t>Đánh giá</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600" b="0">
                          <a:solidFill>
                            <a:srgbClr val="26303D"/>
                          </a:solidFill>
                          <a:latin typeface="Arial"/>
                        </a:rPr>
                        <a:t>Phản hồi tường minh: sao, thích, nhận xét</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600" b="0">
                          <a:solidFill>
                            <a:srgbClr val="26303D"/>
                          </a:solidFill>
                          <a:latin typeface="Arial"/>
                        </a:rPr>
                        <a:t>—</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566928">
                <a:tc>
                  <a:txBody>
                    <a:bodyPr wrap="square"/>
                    <a:lstStyle/>
                    <a:p>
                      <a:r>
                        <a:rPr sz="1600" b="1">
                          <a:solidFill>
                            <a:srgbClr val="1C3A6E"/>
                          </a:solidFill>
                          <a:latin typeface="Arial"/>
                        </a:rPr>
                        <a:t>Thuộc tính</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Khu vực, thiết bị, ngôn ngữ (có từ khi đăng ký)</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600" b="0">
                          <a:solidFill>
                            <a:srgbClr val="26303D"/>
                          </a:solidFill>
                          <a:latin typeface="Arial"/>
                        </a:rPr>
                        <a:t>Thể loại, diễn viên, mô tả (có từ khi lên kệ)</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
        <p:nvSpPr>
          <p:cNvPr id="5" name="TextBox 4"/>
          <p:cNvSpPr txBox="1"/>
          <p:nvPr/>
        </p:nvSpPr>
        <p:spPr>
          <a:xfrm>
            <a:off x="457200" y="3886200"/>
            <a:ext cx="11274425" cy="82296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Lọc cộng tác </a:t>
            </a:r>
            <a:r>
              <a:rPr sz="1800" b="0" i="0">
                <a:solidFill>
                  <a:srgbClr val="26303D"/>
                </a:solidFill>
                <a:latin typeface="Arial"/>
              </a:rPr>
              <a:t>chỉ cần hai hàng đầu. </a:t>
            </a:r>
            <a:r>
              <a:rPr sz="1800" b="1" i="0">
                <a:solidFill>
                  <a:srgbClr val="1C3A6E"/>
                </a:solidFill>
                <a:latin typeface="Arial"/>
              </a:rPr>
              <a:t>Lọc theo nội dung </a:t>
            </a:r>
            <a:r>
              <a:rPr sz="1800" b="0" i="0">
                <a:solidFill>
                  <a:srgbClr val="26303D"/>
                </a:solidFill>
                <a:latin typeface="Arial"/>
              </a:rPr>
              <a:t>cần thêm thuộc tính sản phẩm.</a:t>
            </a:r>
          </a:p>
        </p:txBody>
      </p:sp>
      <p:sp>
        <p:nvSpPr>
          <p:cNvPr id="6" name="Rounded Rectangle 5"/>
          <p:cNvSpPr/>
          <p:nvPr/>
        </p:nvSpPr>
        <p:spPr>
          <a:xfrm>
            <a:off x="457200" y="5257800"/>
            <a:ext cx="11274425" cy="777240"/>
          </a:xfrm>
          <a:prstGeom prst="roundRect">
            <a:avLst>
              <a:gd name="adj" fmla="val 8000"/>
            </a:avLst>
          </a:prstGeom>
          <a:solidFill>
            <a:srgbClr val="FFF6D6"/>
          </a:solidFill>
          <a:ln>
            <a:noFill/>
          </a:ln>
          <a:effectLst/>
        </p:spPr>
        <p:txBody>
          <a:bodyPr rtlCol="0" anchor="ctr"/>
          <a:lstStyle/>
          <a:p/>
        </p:txBody>
      </p:sp>
      <p:sp>
        <p:nvSpPr>
          <p:cNvPr id="7" name="TextBox 6"/>
          <p:cNvSpPr txBox="1"/>
          <p:nvPr/>
        </p:nvSpPr>
        <p:spPr>
          <a:xfrm>
            <a:off x="731520" y="52578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Một người chưa từng bấm xem một phim. Có thể kết luận người đó không thích phim đó không?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Ma trận người dùng × sản phẩm gần như trống</a:t>
            </a:r>
          </a:p>
        </p:txBody>
      </p:sp>
      <p:pic>
        <p:nvPicPr>
          <p:cNvPr id="4" name="Picture 3" descr="image9.png"/>
          <p:cNvPicPr>
            <a:picLocks noChangeAspect="1"/>
          </p:cNvPicPr>
          <p:nvPr/>
        </p:nvPicPr>
        <p:blipFill>
          <a:blip r:embed="rId3"/>
          <a:stretch>
            <a:fillRect/>
          </a:stretch>
        </p:blipFill>
        <p:spPr>
          <a:xfrm>
            <a:off x="457200" y="1325880"/>
            <a:ext cx="9692640" cy="3703692"/>
          </a:xfrm>
          <a:prstGeom prst="rect">
            <a:avLst/>
          </a:prstGeom>
        </p:spPr>
      </p:pic>
      <p:sp>
        <p:nvSpPr>
          <p:cNvPr id="5" name="Rounded Rectangle 4"/>
          <p:cNvSpPr/>
          <p:nvPr/>
        </p:nvSpPr>
        <p:spPr>
          <a:xfrm>
            <a:off x="457200" y="544068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44068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Hai người bất kỳ thường chỉ chung vài sản phẩm, nên rất khó tìm “người giống mình”</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 (GroupLens): 6.040 người × 3.706 phim, 95,5% ô trống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Vài sản phẩm chiếm phần lớn tương tác: đuôi dài</a:t>
            </a:r>
          </a:p>
        </p:txBody>
      </p:sp>
      <p:pic>
        <p:nvPicPr>
          <p:cNvPr id="4" name="Picture 3" descr="image10.png"/>
          <p:cNvPicPr>
            <a:picLocks noChangeAspect="1"/>
          </p:cNvPicPr>
          <p:nvPr/>
        </p:nvPicPr>
        <p:blipFill>
          <a:blip r:embed="rId3"/>
          <a:stretch>
            <a:fillRect/>
          </a:stretch>
        </p:blipFill>
        <p:spPr>
          <a:xfrm>
            <a:off x="457200" y="1280160"/>
            <a:ext cx="6215480" cy="3931920"/>
          </a:xfrm>
          <a:prstGeom prst="rect">
            <a:avLst/>
          </a:prstGeom>
        </p:spPr>
      </p:pic>
      <p:sp>
        <p:nvSpPr>
          <p:cNvPr id="5" name="TextBox 4"/>
          <p:cNvSpPr txBox="1"/>
          <p:nvPr/>
        </p:nvSpPr>
        <p:spPr>
          <a:xfrm>
            <a:off x="6949440" y="1463040"/>
            <a:ext cx="4754880"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Phần đầu</a:t>
            </a:r>
          </a:p>
        </p:txBody>
      </p:sp>
      <p:sp>
        <p:nvSpPr>
          <p:cNvPr id="6" name="TextBox 5"/>
          <p:cNvSpPr txBox="1"/>
          <p:nvPr/>
        </p:nvSpPr>
        <p:spPr>
          <a:xfrm>
            <a:off x="6949440" y="1874519"/>
            <a:ext cx="4754880"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20% phim nhận 65% lượt chấm. Ai cũng biết, không cần gợi ý.</a:t>
            </a:r>
          </a:p>
        </p:txBody>
      </p:sp>
      <p:sp>
        <p:nvSpPr>
          <p:cNvPr id="7" name="TextBox 6"/>
          <p:cNvSpPr txBox="1"/>
          <p:nvPr/>
        </p:nvSpPr>
        <p:spPr>
          <a:xfrm>
            <a:off x="6949440" y="2788920"/>
            <a:ext cx="4754880"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Phần đuôi</a:t>
            </a:r>
          </a:p>
        </p:txBody>
      </p:sp>
      <p:sp>
        <p:nvSpPr>
          <p:cNvPr id="8" name="TextBox 7"/>
          <p:cNvSpPr txBox="1"/>
          <p:nvPr/>
        </p:nvSpPr>
        <p:spPr>
          <a:xfrm>
            <a:off x="6949440" y="3200400"/>
            <a:ext cx="4754880"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Rất nhiều phim ít người biết. Đây là nơi hệ gợi ý tạo thêm giá trị.</a:t>
            </a:r>
          </a:p>
        </p:txBody>
      </p:sp>
      <p:sp>
        <p:nvSpPr>
          <p:cNvPr id="9" name="Rounded Rectangle 8"/>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10" name="TextBox 9"/>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Gợi ý cùng 10 phim nổi tiếng nhất cho mọi người: cách đơn giản này tốt hay kém?</a:t>
            </a:r>
          </a:p>
        </p:txBody>
      </p:sp>
      <p:sp>
        <p:nvSpPr>
          <p:cNvPr id="11" name="TextBox 1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3</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Gợi ý dựa vào nội dung hay vào người khác?</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Lọc theo nội dung, lọc cộng tác, và vì sao chúng cho kết quả khác nhau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Một trang chủ là nhiều thuật toán ghép lại</a:t>
            </a:r>
          </a:p>
        </p:txBody>
      </p:sp>
      <p:pic>
        <p:nvPicPr>
          <p:cNvPr id="4" name="Picture 3" descr="image11.png"/>
          <p:cNvPicPr>
            <a:picLocks noChangeAspect="1"/>
          </p:cNvPicPr>
          <p:nvPr/>
        </p:nvPicPr>
        <p:blipFill>
          <a:blip r:embed="rId3"/>
          <a:stretch>
            <a:fillRect/>
          </a:stretch>
        </p:blipFill>
        <p:spPr>
          <a:xfrm>
            <a:off x="457200" y="1325880"/>
            <a:ext cx="10241280" cy="4163122"/>
          </a:xfrm>
          <a:prstGeom prst="rect">
            <a:avLst/>
          </a:prstGeom>
        </p:spPr>
      </p:pic>
      <p:sp>
        <p:nvSpPr>
          <p:cNvPr id="5" name="Rounded Rectangle 4"/>
          <p:cNvSpPr/>
          <p:nvPr/>
        </p:nvSpPr>
        <p:spPr>
          <a:xfrm>
            <a:off x="457200" y="557784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57784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Không có “một thuật toán gợi ý”: mỗi hàng giải một bài toán con khác nhau</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80% giờ xem đến từ gợi ý, 20% từ tìm kiếm (Gomez-Uribe &amp; Hunt, 2015)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“Giống phim Ma trận” có thể hiểu theo hai cách</a:t>
            </a:r>
          </a:p>
        </p:txBody>
      </p:sp>
      <p:sp>
        <p:nvSpPr>
          <p:cNvPr id="4" name="TextBox 3"/>
          <p:cNvSpPr txBox="1"/>
          <p:nvPr/>
        </p:nvSpPr>
        <p:spPr>
          <a:xfrm>
            <a:off x="457200" y="1463040"/>
            <a:ext cx="11274425"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Cách 1. Giống về mô tả</a:t>
            </a:r>
          </a:p>
        </p:txBody>
      </p:sp>
      <p:sp>
        <p:nvSpPr>
          <p:cNvPr id="5" name="Rounded Rectangle 4"/>
          <p:cNvSpPr/>
          <p:nvPr/>
        </p:nvSpPr>
        <p:spPr>
          <a:xfrm>
            <a:off x="457200" y="1965960"/>
            <a:ext cx="3429000" cy="777240"/>
          </a:xfrm>
          <a:prstGeom prst="roundRect">
            <a:avLst>
              <a:gd name="adj" fmla="val 6000"/>
            </a:avLst>
          </a:prstGeom>
          <a:solidFill>
            <a:srgbClr val="EAF0F8"/>
          </a:solidFill>
          <a:ln>
            <a:noFill/>
          </a:ln>
          <a:effectLst/>
        </p:spPr>
        <p:txBody>
          <a:bodyPr rtlCol="0" anchor="ctr"/>
          <a:lstStyle/>
          <a:p/>
        </p:txBody>
      </p:sp>
      <p:sp>
        <p:nvSpPr>
          <p:cNvPr id="6" name="TextBox 5"/>
          <p:cNvSpPr txBox="1"/>
          <p:nvPr/>
        </p:nvSpPr>
        <p:spPr>
          <a:xfrm>
            <a:off x="640080" y="19659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An thích Ma trận</a:t>
            </a:r>
          </a:p>
        </p:txBody>
      </p:sp>
      <p:sp>
        <p:nvSpPr>
          <p:cNvPr id="7" name="TextBox 6"/>
          <p:cNvSpPr txBox="1"/>
          <p:nvPr/>
        </p:nvSpPr>
        <p:spPr>
          <a:xfrm>
            <a:off x="3886200" y="19659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8" name="Rounded Rectangle 7"/>
          <p:cNvSpPr/>
          <p:nvPr/>
        </p:nvSpPr>
        <p:spPr>
          <a:xfrm>
            <a:off x="4379976" y="1965960"/>
            <a:ext cx="3429000" cy="77724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62856" y="19659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Ma trận: hành động, viễn tưởng, giật gân</a:t>
            </a:r>
          </a:p>
        </p:txBody>
      </p:sp>
      <p:sp>
        <p:nvSpPr>
          <p:cNvPr id="10" name="TextBox 9"/>
          <p:cNvSpPr txBox="1"/>
          <p:nvPr/>
        </p:nvSpPr>
        <p:spPr>
          <a:xfrm>
            <a:off x="7808976" y="19659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11" name="Rounded Rectangle 10"/>
          <p:cNvSpPr/>
          <p:nvPr/>
        </p:nvSpPr>
        <p:spPr>
          <a:xfrm>
            <a:off x="8302752" y="1965960"/>
            <a:ext cx="3429000" cy="777240"/>
          </a:xfrm>
          <a:prstGeom prst="roundRect">
            <a:avLst>
              <a:gd name="adj" fmla="val 6000"/>
            </a:avLst>
          </a:prstGeom>
          <a:solidFill>
            <a:srgbClr val="FFF6D6"/>
          </a:solidFill>
          <a:ln>
            <a:noFill/>
          </a:ln>
          <a:effectLst/>
        </p:spPr>
        <p:txBody>
          <a:bodyPr rtlCol="0" anchor="ctr"/>
          <a:lstStyle/>
          <a:p/>
        </p:txBody>
      </p:sp>
      <p:sp>
        <p:nvSpPr>
          <p:cNvPr id="12" name="TextBox 11"/>
          <p:cNvSpPr txBox="1"/>
          <p:nvPr/>
        </p:nvSpPr>
        <p:spPr>
          <a:xfrm>
            <a:off x="8485632" y="1965960"/>
            <a:ext cx="3063240" cy="777240"/>
          </a:xfrm>
          <a:prstGeom prst="rect">
            <a:avLst/>
          </a:prstGeom>
          <a:noFill/>
        </p:spPr>
        <p:txBody>
          <a:bodyPr wrap="square" lIns="0" rIns="0" tIns="0" bIns="0" anchor="ctr">
            <a:spAutoFit/>
          </a:bodyPr>
          <a:lstStyle/>
          <a:p>
            <a:pPr algn="l">
              <a:lnSpc>
                <a:spcPct val="110000"/>
              </a:lnSpc>
              <a:spcAft>
                <a:spcPts val="0"/>
              </a:spcAft>
            </a:pPr>
            <a:r>
              <a:rPr sz="1600" b="1" i="0">
                <a:solidFill>
                  <a:srgbClr val="1C3A6E"/>
                </a:solidFill>
                <a:latin typeface="Arial"/>
              </a:rPr>
              <a:t>gợi ý phim có cùng đặc điểm</a:t>
            </a:r>
          </a:p>
        </p:txBody>
      </p:sp>
      <p:sp>
        <p:nvSpPr>
          <p:cNvPr id="13" name="TextBox 12"/>
          <p:cNvSpPr txBox="1"/>
          <p:nvPr/>
        </p:nvSpPr>
        <p:spPr>
          <a:xfrm>
            <a:off x="457200" y="3063240"/>
            <a:ext cx="11274425" cy="45720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Cách 2. Giống về người xem</a:t>
            </a:r>
          </a:p>
        </p:txBody>
      </p:sp>
      <p:sp>
        <p:nvSpPr>
          <p:cNvPr id="14" name="Rounded Rectangle 13"/>
          <p:cNvSpPr/>
          <p:nvPr/>
        </p:nvSpPr>
        <p:spPr>
          <a:xfrm>
            <a:off x="457200" y="3566160"/>
            <a:ext cx="3429000" cy="777240"/>
          </a:xfrm>
          <a:prstGeom prst="roundRect">
            <a:avLst>
              <a:gd name="adj" fmla="val 6000"/>
            </a:avLst>
          </a:prstGeom>
          <a:solidFill>
            <a:srgbClr val="EAF0F8"/>
          </a:solidFill>
          <a:ln>
            <a:noFill/>
          </a:ln>
          <a:effectLst/>
        </p:spPr>
        <p:txBody>
          <a:bodyPr rtlCol="0" anchor="ctr"/>
          <a:lstStyle/>
          <a:p/>
        </p:txBody>
      </p:sp>
      <p:sp>
        <p:nvSpPr>
          <p:cNvPr id="15" name="TextBox 14"/>
          <p:cNvSpPr txBox="1"/>
          <p:nvPr/>
        </p:nvSpPr>
        <p:spPr>
          <a:xfrm>
            <a:off x="640080" y="35661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An thích Ma trận</a:t>
            </a:r>
          </a:p>
        </p:txBody>
      </p:sp>
      <p:sp>
        <p:nvSpPr>
          <p:cNvPr id="16" name="TextBox 15"/>
          <p:cNvSpPr txBox="1"/>
          <p:nvPr/>
        </p:nvSpPr>
        <p:spPr>
          <a:xfrm>
            <a:off x="3886200" y="35661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17" name="Rounded Rectangle 16"/>
          <p:cNvSpPr/>
          <p:nvPr/>
        </p:nvSpPr>
        <p:spPr>
          <a:xfrm>
            <a:off x="4379976" y="3566160"/>
            <a:ext cx="3429000" cy="777240"/>
          </a:xfrm>
          <a:prstGeom prst="roundRect">
            <a:avLst>
              <a:gd name="adj" fmla="val 6000"/>
            </a:avLst>
          </a:prstGeom>
          <a:solidFill>
            <a:srgbClr val="EAF0F8"/>
          </a:solidFill>
          <a:ln>
            <a:noFill/>
          </a:ln>
          <a:effectLst/>
        </p:spPr>
        <p:txBody>
          <a:bodyPr rtlCol="0" anchor="ctr"/>
          <a:lstStyle/>
          <a:p/>
        </p:txBody>
      </p:sp>
      <p:sp>
        <p:nvSpPr>
          <p:cNvPr id="18" name="TextBox 17"/>
          <p:cNvSpPr txBox="1"/>
          <p:nvPr/>
        </p:nvSpPr>
        <p:spPr>
          <a:xfrm>
            <a:off x="4562856" y="3566160"/>
            <a:ext cx="3063240" cy="777240"/>
          </a:xfrm>
          <a:prstGeom prst="rect">
            <a:avLst/>
          </a:prstGeom>
          <a:noFill/>
        </p:spPr>
        <p:txBody>
          <a:bodyPr wrap="square" lIns="0" rIns="0" tIns="0" bIns="0" anchor="ctr">
            <a:spAutoFit/>
          </a:bodyPr>
          <a:lstStyle/>
          <a:p>
            <a:pPr algn="l">
              <a:lnSpc>
                <a:spcPct val="110000"/>
              </a:lnSpc>
              <a:spcAft>
                <a:spcPts val="0"/>
              </a:spcAft>
            </a:pPr>
            <a:r>
              <a:rPr sz="1600" b="0" i="0">
                <a:solidFill>
                  <a:srgbClr val="26303D"/>
                </a:solidFill>
                <a:latin typeface="Arial"/>
              </a:rPr>
              <a:t>những người cũng thích Ma trận</a:t>
            </a:r>
          </a:p>
        </p:txBody>
      </p:sp>
      <p:sp>
        <p:nvSpPr>
          <p:cNvPr id="19" name="TextBox 18"/>
          <p:cNvSpPr txBox="1"/>
          <p:nvPr/>
        </p:nvSpPr>
        <p:spPr>
          <a:xfrm>
            <a:off x="7808976" y="3566160"/>
            <a:ext cx="493776" cy="777240"/>
          </a:xfrm>
          <a:prstGeom prst="rect">
            <a:avLst/>
          </a:prstGeom>
          <a:noFill/>
        </p:spPr>
        <p:txBody>
          <a:bodyPr wrap="square" lIns="0" rIns="0" tIns="0" bIns="0" anchor="ctr">
            <a:spAutoFit/>
          </a:bodyPr>
          <a:lstStyle/>
          <a:p>
            <a:pPr algn="ctr">
              <a:lnSpc>
                <a:spcPct val="110000"/>
              </a:lnSpc>
              <a:spcAft>
                <a:spcPts val="0"/>
              </a:spcAft>
            </a:pPr>
            <a:r>
              <a:rPr sz="2800" b="0" i="0">
                <a:solidFill>
                  <a:srgbClr val="5F6B7A"/>
                </a:solidFill>
                <a:latin typeface="Arial"/>
              </a:rPr>
              <a:t>›</a:t>
            </a:r>
          </a:p>
        </p:txBody>
      </p:sp>
      <p:sp>
        <p:nvSpPr>
          <p:cNvPr id="20" name="Rounded Rectangle 19"/>
          <p:cNvSpPr/>
          <p:nvPr/>
        </p:nvSpPr>
        <p:spPr>
          <a:xfrm>
            <a:off x="8302752" y="3566160"/>
            <a:ext cx="3429000" cy="777240"/>
          </a:xfrm>
          <a:prstGeom prst="roundRect">
            <a:avLst>
              <a:gd name="adj" fmla="val 6000"/>
            </a:avLst>
          </a:prstGeom>
          <a:solidFill>
            <a:srgbClr val="FFF6D6"/>
          </a:solidFill>
          <a:ln>
            <a:noFill/>
          </a:ln>
          <a:effectLst/>
        </p:spPr>
        <p:txBody>
          <a:bodyPr rtlCol="0" anchor="ctr"/>
          <a:lstStyle/>
          <a:p/>
        </p:txBody>
      </p:sp>
      <p:sp>
        <p:nvSpPr>
          <p:cNvPr id="21" name="TextBox 20"/>
          <p:cNvSpPr txBox="1"/>
          <p:nvPr/>
        </p:nvSpPr>
        <p:spPr>
          <a:xfrm>
            <a:off x="8485632" y="3566160"/>
            <a:ext cx="3063240" cy="777240"/>
          </a:xfrm>
          <a:prstGeom prst="rect">
            <a:avLst/>
          </a:prstGeom>
          <a:noFill/>
        </p:spPr>
        <p:txBody>
          <a:bodyPr wrap="square" lIns="0" rIns="0" tIns="0" bIns="0" anchor="ctr">
            <a:spAutoFit/>
          </a:bodyPr>
          <a:lstStyle/>
          <a:p>
            <a:pPr algn="l">
              <a:lnSpc>
                <a:spcPct val="110000"/>
              </a:lnSpc>
              <a:spcAft>
                <a:spcPts val="0"/>
              </a:spcAft>
            </a:pPr>
            <a:r>
              <a:rPr sz="1600" b="1" i="0">
                <a:solidFill>
                  <a:srgbClr val="1C3A6E"/>
                </a:solidFill>
                <a:latin typeface="Arial"/>
              </a:rPr>
              <a:t>gợi ý phim họ thích mà An chưa xem</a:t>
            </a:r>
          </a:p>
        </p:txBody>
      </p:sp>
      <p:sp>
        <p:nvSpPr>
          <p:cNvPr id="22" name="Rounded Rectangle 21"/>
          <p:cNvSpPr/>
          <p:nvPr/>
        </p:nvSpPr>
        <p:spPr>
          <a:xfrm>
            <a:off x="457200" y="4937760"/>
            <a:ext cx="11274425" cy="777240"/>
          </a:xfrm>
          <a:prstGeom prst="roundRect">
            <a:avLst>
              <a:gd name="adj" fmla="val 8000"/>
            </a:avLst>
          </a:prstGeom>
          <a:solidFill>
            <a:srgbClr val="FFF6D6"/>
          </a:solidFill>
          <a:ln>
            <a:noFill/>
          </a:ln>
          <a:effectLst/>
        </p:spPr>
        <p:txBody>
          <a:bodyPr rtlCol="0" anchor="ctr"/>
          <a:lstStyle/>
          <a:p/>
        </p:txBody>
      </p:sp>
      <p:sp>
        <p:nvSpPr>
          <p:cNvPr id="23" name="TextBox 22"/>
          <p:cNvSpPr txBox="1"/>
          <p:nvPr/>
        </p:nvSpPr>
        <p:spPr>
          <a:xfrm>
            <a:off x="731520" y="493776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3. </a:t>
            </a:r>
            <a:r>
              <a:rPr sz="1800" b="0" i="0">
                <a:solidFill>
                  <a:srgbClr val="26303D"/>
                </a:solidFill>
                <a:latin typeface="Arial"/>
              </a:rPr>
              <a:t>Mỗi cách cần dữ liệu gì? Cách nào có thể cho kết quả bất ngờ hơn?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họ phương pháp gợi ý</a:t>
            </a:r>
          </a:p>
        </p:txBody>
      </p:sp>
      <p:sp>
        <p:nvSpPr>
          <p:cNvPr id="4" name="Rounded Rectangle 3"/>
          <p:cNvSpPr/>
          <p:nvPr/>
        </p:nvSpPr>
        <p:spPr>
          <a:xfrm>
            <a:off x="457200" y="1371600"/>
            <a:ext cx="5500052" cy="3566160"/>
          </a:xfrm>
          <a:prstGeom prst="roundRect">
            <a:avLst>
              <a:gd name="adj" fmla="val 6000"/>
            </a:avLst>
          </a:prstGeom>
          <a:solidFill>
            <a:srgbClr val="1C3A6E"/>
          </a:solidFill>
          <a:ln>
            <a:noFill/>
          </a:ln>
          <a:effectLst/>
        </p:spPr>
        <p:txBody>
          <a:bodyPr rtlCol="0" anchor="ctr"/>
          <a:lstStyle/>
          <a:p/>
        </p:txBody>
      </p:sp>
      <p:sp>
        <p:nvSpPr>
          <p:cNvPr id="5" name="TextBox 4"/>
          <p:cNvSpPr txBox="1"/>
          <p:nvPr/>
        </p:nvSpPr>
        <p:spPr>
          <a:xfrm>
            <a:off x="822960" y="1600200"/>
            <a:ext cx="4768532" cy="502920"/>
          </a:xfrm>
          <a:prstGeom prst="rect">
            <a:avLst/>
          </a:prstGeom>
          <a:noFill/>
        </p:spPr>
        <p:txBody>
          <a:bodyPr wrap="square" lIns="0" rIns="0" tIns="0" bIns="0" anchor="t">
            <a:spAutoFit/>
          </a:bodyPr>
          <a:lstStyle/>
          <a:p>
            <a:pPr algn="l">
              <a:lnSpc>
                <a:spcPct val="110000"/>
              </a:lnSpc>
              <a:spcAft>
                <a:spcPts val="0"/>
              </a:spcAft>
            </a:pPr>
            <a:r>
              <a:rPr sz="2600" b="1" i="0">
                <a:solidFill>
                  <a:srgbClr val="FFFFFF"/>
                </a:solidFill>
                <a:latin typeface="Arial"/>
              </a:rPr>
              <a:t>Lọc theo nội dung</a:t>
            </a:r>
          </a:p>
        </p:txBody>
      </p:sp>
      <p:sp>
        <p:nvSpPr>
          <p:cNvPr id="6" name="TextBox 5"/>
          <p:cNvSpPr txBox="1"/>
          <p:nvPr/>
        </p:nvSpPr>
        <p:spPr>
          <a:xfrm>
            <a:off x="822960" y="2103120"/>
            <a:ext cx="4768532" cy="365760"/>
          </a:xfrm>
          <a:prstGeom prst="rect">
            <a:avLst/>
          </a:prstGeom>
          <a:noFill/>
        </p:spPr>
        <p:txBody>
          <a:bodyPr wrap="square" lIns="0" rIns="0" tIns="0" bIns="0" anchor="t">
            <a:spAutoFit/>
          </a:bodyPr>
          <a:lstStyle/>
          <a:p>
            <a:pPr algn="l">
              <a:lnSpc>
                <a:spcPct val="110000"/>
              </a:lnSpc>
              <a:spcAft>
                <a:spcPts val="0"/>
              </a:spcAft>
            </a:pPr>
            <a:r>
              <a:rPr sz="1500" b="0" i="1">
                <a:solidFill>
                  <a:srgbClr val="F5C518"/>
                </a:solidFill>
                <a:latin typeface="Arial"/>
              </a:rPr>
              <a:t>content-based filtering</a:t>
            </a:r>
          </a:p>
        </p:txBody>
      </p:sp>
      <p:sp>
        <p:nvSpPr>
          <p:cNvPr id="7" name="TextBox 6"/>
          <p:cNvSpPr txBox="1"/>
          <p:nvPr/>
        </p:nvSpPr>
        <p:spPr>
          <a:xfrm>
            <a:off x="822960" y="2743200"/>
            <a:ext cx="4768532" cy="914400"/>
          </a:xfrm>
          <a:prstGeom prst="rect">
            <a:avLst/>
          </a:prstGeom>
          <a:noFill/>
        </p:spPr>
        <p:txBody>
          <a:bodyPr wrap="square" lIns="0" rIns="0" tIns="0" bIns="0" anchor="t">
            <a:spAutoFit/>
          </a:bodyPr>
          <a:lstStyle/>
          <a:p>
            <a:pPr algn="l">
              <a:lnSpc>
                <a:spcPct val="110000"/>
              </a:lnSpc>
              <a:spcAft>
                <a:spcPts val="0"/>
              </a:spcAft>
            </a:pPr>
            <a:r>
              <a:rPr sz="2200" b="0" i="0">
                <a:solidFill>
                  <a:srgbClr val="FFFFFF"/>
                </a:solidFill>
                <a:latin typeface="Arial"/>
              </a:rPr>
              <a:t>Bạn thích một sản phẩm thì sẽ thích sản phẩm giống nó</a:t>
            </a:r>
          </a:p>
        </p:txBody>
      </p:sp>
      <p:sp>
        <p:nvSpPr>
          <p:cNvPr id="8" name="TextBox 7"/>
          <p:cNvSpPr txBox="1"/>
          <p:nvPr/>
        </p:nvSpPr>
        <p:spPr>
          <a:xfrm>
            <a:off x="822960" y="4114800"/>
            <a:ext cx="4768532" cy="548640"/>
          </a:xfrm>
          <a:prstGeom prst="rect">
            <a:avLst/>
          </a:prstGeom>
          <a:noFill/>
        </p:spPr>
        <p:txBody>
          <a:bodyPr wrap="square" lIns="0" rIns="0" tIns="0" bIns="0" anchor="t">
            <a:spAutoFit/>
          </a:bodyPr>
          <a:lstStyle/>
          <a:p>
            <a:pPr algn="l">
              <a:lnSpc>
                <a:spcPct val="110000"/>
              </a:lnSpc>
              <a:spcAft>
                <a:spcPts val="0"/>
              </a:spcAft>
            </a:pPr>
            <a:r>
              <a:rPr sz="1600" b="1" i="0">
                <a:solidFill>
                  <a:srgbClr val="F5C518"/>
                </a:solidFill>
                <a:latin typeface="Arial"/>
              </a:rPr>
              <a:t>Cần: </a:t>
            </a:r>
            <a:r>
              <a:rPr sz="1600" b="0" i="0">
                <a:solidFill>
                  <a:srgbClr val="DCE4F0"/>
                </a:solidFill>
                <a:latin typeface="Arial"/>
              </a:rPr>
              <a:t>mô tả sản phẩm + lịch sử của chính bạn</a:t>
            </a:r>
          </a:p>
        </p:txBody>
      </p:sp>
      <p:sp>
        <p:nvSpPr>
          <p:cNvPr id="9" name="Rounded Rectangle 8"/>
          <p:cNvSpPr/>
          <p:nvPr/>
        </p:nvSpPr>
        <p:spPr>
          <a:xfrm>
            <a:off x="6231572" y="1371600"/>
            <a:ext cx="5500052" cy="3566160"/>
          </a:xfrm>
          <a:prstGeom prst="roundRect">
            <a:avLst>
              <a:gd name="adj" fmla="val 6000"/>
            </a:avLst>
          </a:prstGeom>
          <a:solidFill>
            <a:srgbClr val="1C3A6E"/>
          </a:solidFill>
          <a:ln>
            <a:noFill/>
          </a:ln>
          <a:effectLst/>
        </p:spPr>
        <p:txBody>
          <a:bodyPr rtlCol="0" anchor="ctr"/>
          <a:lstStyle/>
          <a:p/>
        </p:txBody>
      </p:sp>
      <p:sp>
        <p:nvSpPr>
          <p:cNvPr id="10" name="TextBox 9"/>
          <p:cNvSpPr txBox="1"/>
          <p:nvPr/>
        </p:nvSpPr>
        <p:spPr>
          <a:xfrm>
            <a:off x="6597332" y="1600200"/>
            <a:ext cx="4768532" cy="502920"/>
          </a:xfrm>
          <a:prstGeom prst="rect">
            <a:avLst/>
          </a:prstGeom>
          <a:noFill/>
        </p:spPr>
        <p:txBody>
          <a:bodyPr wrap="square" lIns="0" rIns="0" tIns="0" bIns="0" anchor="t">
            <a:spAutoFit/>
          </a:bodyPr>
          <a:lstStyle/>
          <a:p>
            <a:pPr algn="l">
              <a:lnSpc>
                <a:spcPct val="110000"/>
              </a:lnSpc>
              <a:spcAft>
                <a:spcPts val="0"/>
              </a:spcAft>
            </a:pPr>
            <a:r>
              <a:rPr sz="2600" b="1" i="0">
                <a:solidFill>
                  <a:srgbClr val="FFFFFF"/>
                </a:solidFill>
                <a:latin typeface="Arial"/>
              </a:rPr>
              <a:t>Lọc cộng tác</a:t>
            </a:r>
          </a:p>
        </p:txBody>
      </p:sp>
      <p:sp>
        <p:nvSpPr>
          <p:cNvPr id="11" name="TextBox 10"/>
          <p:cNvSpPr txBox="1"/>
          <p:nvPr/>
        </p:nvSpPr>
        <p:spPr>
          <a:xfrm>
            <a:off x="6597332" y="2103120"/>
            <a:ext cx="4768532" cy="365760"/>
          </a:xfrm>
          <a:prstGeom prst="rect">
            <a:avLst/>
          </a:prstGeom>
          <a:noFill/>
        </p:spPr>
        <p:txBody>
          <a:bodyPr wrap="square" lIns="0" rIns="0" tIns="0" bIns="0" anchor="t">
            <a:spAutoFit/>
          </a:bodyPr>
          <a:lstStyle/>
          <a:p>
            <a:pPr algn="l">
              <a:lnSpc>
                <a:spcPct val="110000"/>
              </a:lnSpc>
              <a:spcAft>
                <a:spcPts val="0"/>
              </a:spcAft>
            </a:pPr>
            <a:r>
              <a:rPr sz="1500" b="0" i="1">
                <a:solidFill>
                  <a:srgbClr val="F5C518"/>
                </a:solidFill>
                <a:latin typeface="Arial"/>
              </a:rPr>
              <a:t>collaborative filtering</a:t>
            </a:r>
          </a:p>
        </p:txBody>
      </p:sp>
      <p:sp>
        <p:nvSpPr>
          <p:cNvPr id="12" name="TextBox 11"/>
          <p:cNvSpPr txBox="1"/>
          <p:nvPr/>
        </p:nvSpPr>
        <p:spPr>
          <a:xfrm>
            <a:off x="6597332" y="2743200"/>
            <a:ext cx="4768532" cy="914400"/>
          </a:xfrm>
          <a:prstGeom prst="rect">
            <a:avLst/>
          </a:prstGeom>
          <a:noFill/>
        </p:spPr>
        <p:txBody>
          <a:bodyPr wrap="square" lIns="0" rIns="0" tIns="0" bIns="0" anchor="t">
            <a:spAutoFit/>
          </a:bodyPr>
          <a:lstStyle/>
          <a:p>
            <a:pPr algn="l">
              <a:lnSpc>
                <a:spcPct val="110000"/>
              </a:lnSpc>
              <a:spcAft>
                <a:spcPts val="0"/>
              </a:spcAft>
            </a:pPr>
            <a:r>
              <a:rPr sz="2200" b="0" i="0">
                <a:solidFill>
                  <a:srgbClr val="FFFFFF"/>
                </a:solidFill>
                <a:latin typeface="Arial"/>
              </a:rPr>
              <a:t>Người giống bạn thích gì thì bạn cũng có thể thích</a:t>
            </a:r>
          </a:p>
        </p:txBody>
      </p:sp>
      <p:sp>
        <p:nvSpPr>
          <p:cNvPr id="13" name="TextBox 12"/>
          <p:cNvSpPr txBox="1"/>
          <p:nvPr/>
        </p:nvSpPr>
        <p:spPr>
          <a:xfrm>
            <a:off x="6597332" y="4114800"/>
            <a:ext cx="4768532" cy="548640"/>
          </a:xfrm>
          <a:prstGeom prst="rect">
            <a:avLst/>
          </a:prstGeom>
          <a:noFill/>
        </p:spPr>
        <p:txBody>
          <a:bodyPr wrap="square" lIns="0" rIns="0" tIns="0" bIns="0" anchor="t">
            <a:spAutoFit/>
          </a:bodyPr>
          <a:lstStyle/>
          <a:p>
            <a:pPr algn="l">
              <a:lnSpc>
                <a:spcPct val="110000"/>
              </a:lnSpc>
              <a:spcAft>
                <a:spcPts val="0"/>
              </a:spcAft>
            </a:pPr>
            <a:r>
              <a:rPr sz="1600" b="1" i="0">
                <a:solidFill>
                  <a:srgbClr val="F5C518"/>
                </a:solidFill>
                <a:latin typeface="Arial"/>
              </a:rPr>
              <a:t>Cần: </a:t>
            </a:r>
            <a:r>
              <a:rPr sz="1600" b="0" i="0">
                <a:solidFill>
                  <a:srgbClr val="DCE4F0"/>
                </a:solidFill>
                <a:latin typeface="Arial"/>
              </a:rPr>
              <a:t>lịch sử của nhiều người dùng</a:t>
            </a:r>
          </a:p>
        </p:txBody>
      </p:sp>
      <p:sp>
        <p:nvSpPr>
          <p:cNvPr id="14" name="TextBox 13"/>
          <p:cNvSpPr txBox="1"/>
          <p:nvPr/>
        </p:nvSpPr>
        <p:spPr>
          <a:xfrm>
            <a:off x="457200" y="5303520"/>
            <a:ext cx="11274425" cy="73152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Hệ lai </a:t>
            </a:r>
            <a:r>
              <a:rPr sz="1800" b="0" i="0">
                <a:solidFill>
                  <a:srgbClr val="26303D"/>
                </a:solidFill>
                <a:latin typeface="Arial"/>
              </a:rPr>
              <a:t>kết hợp cả hai. Đây là cách các nền tảng lớn thực sự vận hành (phần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Ví dụ chạy tay: nên gợi ý phim nào cho An?</a:t>
            </a:r>
          </a:p>
        </p:txBody>
      </p:sp>
      <p:pic>
        <p:nvPicPr>
          <p:cNvPr id="4" name="Picture 3" descr="image13.png"/>
          <p:cNvPicPr>
            <a:picLocks noChangeAspect="1"/>
          </p:cNvPicPr>
          <p:nvPr/>
        </p:nvPicPr>
        <p:blipFill>
          <a:blip r:embed="rId3"/>
          <a:stretch>
            <a:fillRect/>
          </a:stretch>
        </p:blipFill>
        <p:spPr>
          <a:xfrm>
            <a:off x="457200" y="1280160"/>
            <a:ext cx="10058400" cy="3925229"/>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Đoán trước. </a:t>
            </a:r>
            <a:r>
              <a:rPr sz="1800" b="0" i="0">
                <a:solidFill>
                  <a:srgbClr val="26303D"/>
                </a:solidFill>
                <a:latin typeface="Arial"/>
              </a:rPr>
              <a:t>An chưa xem 3 phim (ô vàng). Phim nào nên lên màn hình của An?</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Điểm thật trong MovieLens 1M; tên người là tên đặt thay mã số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theo nội dung: dựng hồ sơ rồi so khớp</a:t>
            </a:r>
          </a:p>
        </p:txBody>
      </p:sp>
      <p:sp>
        <p:nvSpPr>
          <p:cNvPr id="4" name="Rounded Rectangle 3"/>
          <p:cNvSpPr/>
          <p:nvPr/>
        </p:nvSpPr>
        <p:spPr>
          <a:xfrm>
            <a:off x="457200" y="1371600"/>
            <a:ext cx="3575261" cy="182880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31520"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1</a:t>
            </a:r>
          </a:p>
        </p:txBody>
      </p:sp>
      <p:sp>
        <p:nvSpPr>
          <p:cNvPr id="6" name="TextBox 5"/>
          <p:cNvSpPr txBox="1"/>
          <p:nvPr/>
        </p:nvSpPr>
        <p:spPr>
          <a:xfrm>
            <a:off x="731520"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Hồ sơ sản phẩm</a:t>
            </a:r>
          </a:p>
        </p:txBody>
      </p:sp>
      <p:sp>
        <p:nvSpPr>
          <p:cNvPr id="7" name="TextBox 6"/>
          <p:cNvSpPr txBox="1"/>
          <p:nvPr/>
        </p:nvSpPr>
        <p:spPr>
          <a:xfrm>
            <a:off x="731520"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thể loại, diễn viên, đạo diễn, từ khoá mô tả</a:t>
            </a:r>
          </a:p>
        </p:txBody>
      </p:sp>
      <p:sp>
        <p:nvSpPr>
          <p:cNvPr id="8" name="Rounded Rectangle 7"/>
          <p:cNvSpPr/>
          <p:nvPr/>
        </p:nvSpPr>
        <p:spPr>
          <a:xfrm>
            <a:off x="4306781" y="1371600"/>
            <a:ext cx="3575261" cy="182880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81101"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2</a:t>
            </a:r>
          </a:p>
        </p:txBody>
      </p:sp>
      <p:sp>
        <p:nvSpPr>
          <p:cNvPr id="10" name="TextBox 9"/>
          <p:cNvSpPr txBox="1"/>
          <p:nvPr/>
        </p:nvSpPr>
        <p:spPr>
          <a:xfrm>
            <a:off x="4581101"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Hồ sơ người dùng</a:t>
            </a:r>
          </a:p>
        </p:txBody>
      </p:sp>
      <p:sp>
        <p:nvSpPr>
          <p:cNvPr id="11" name="TextBox 10"/>
          <p:cNvSpPr txBox="1"/>
          <p:nvPr/>
        </p:nvSpPr>
        <p:spPr>
          <a:xfrm>
            <a:off x="4581101"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người đó thích đặc điểm nào, ghét đặc điểm nào</a:t>
            </a:r>
          </a:p>
        </p:txBody>
      </p:sp>
      <p:sp>
        <p:nvSpPr>
          <p:cNvPr id="12" name="Rounded Rectangle 11"/>
          <p:cNvSpPr/>
          <p:nvPr/>
        </p:nvSpPr>
        <p:spPr>
          <a:xfrm>
            <a:off x="8156362" y="1371600"/>
            <a:ext cx="3575261" cy="1828800"/>
          </a:xfrm>
          <a:prstGeom prst="roundRect">
            <a:avLst>
              <a:gd name="adj" fmla="val 6000"/>
            </a:avLst>
          </a:prstGeom>
          <a:solidFill>
            <a:srgbClr val="EAF0F8"/>
          </a:solidFill>
          <a:ln>
            <a:noFill/>
          </a:ln>
          <a:effectLst/>
        </p:spPr>
        <p:txBody>
          <a:bodyPr rtlCol="0" anchor="ctr"/>
          <a:lstStyle/>
          <a:p/>
        </p:txBody>
      </p:sp>
      <p:sp>
        <p:nvSpPr>
          <p:cNvPr id="13" name="TextBox 12"/>
          <p:cNvSpPr txBox="1"/>
          <p:nvPr/>
        </p:nvSpPr>
        <p:spPr>
          <a:xfrm>
            <a:off x="8430682"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3</a:t>
            </a:r>
          </a:p>
        </p:txBody>
      </p:sp>
      <p:sp>
        <p:nvSpPr>
          <p:cNvPr id="14" name="TextBox 13"/>
          <p:cNvSpPr txBox="1"/>
          <p:nvPr/>
        </p:nvSpPr>
        <p:spPr>
          <a:xfrm>
            <a:off x="8430682"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So khớp</a:t>
            </a:r>
          </a:p>
        </p:txBody>
      </p:sp>
      <p:sp>
        <p:nvSpPr>
          <p:cNvPr id="15" name="TextBox 14"/>
          <p:cNvSpPr txBox="1"/>
          <p:nvPr/>
        </p:nvSpPr>
        <p:spPr>
          <a:xfrm>
            <a:off x="8430682" y="2514600"/>
            <a:ext cx="3026621" cy="64008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sản phẩm khớp hồ sơ nhất được gợi ý</a:t>
            </a:r>
          </a:p>
        </p:txBody>
      </p:sp>
      <p:sp>
        <p:nvSpPr>
          <p:cNvPr id="16" name="TextBox 15"/>
          <p:cNvSpPr txBox="1"/>
          <p:nvPr/>
        </p:nvSpPr>
        <p:spPr>
          <a:xfrm>
            <a:off x="457200" y="3611880"/>
            <a:ext cx="11274425"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Hai chi tiết quyết định chất lượng</a:t>
            </a:r>
          </a:p>
        </p:txBody>
      </p:sp>
      <p:sp>
        <p:nvSpPr>
          <p:cNvPr id="17" name="TextBox 16"/>
          <p:cNvSpPr txBox="1"/>
          <p:nvPr/>
        </p:nvSpPr>
        <p:spPr>
          <a:xfrm>
            <a:off x="457200" y="4069080"/>
            <a:ext cx="11274425" cy="164592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Mô tả dạng văn bản: </a:t>
            </a:r>
            <a:r>
              <a:rPr sz="1800" b="0" i="0">
                <a:solidFill>
                  <a:srgbClr val="26303D"/>
                </a:solidFill>
                <a:latin typeface="Arial"/>
              </a:rPr>
              <a:t>giữ những từ xuất hiện nhiều ở sản phẩm này nhưng ít ở sản phẩm khác (TF-IDF).</a:t>
            </a:r>
          </a:p>
          <a:p>
            <a:pPr algn="l" marL="251460" indent="-251460">
              <a:lnSpc>
                <a:spcPct val="110000"/>
              </a:lnSpc>
              <a:spcAft>
                <a:spcPts val="1000"/>
              </a:spcAft>
              <a:buFont typeface="Arial"/>
              <a:buChar char="•"/>
            </a:pPr>
            <a:r>
              <a:rPr sz="1800" b="1" i="0">
                <a:solidFill>
                  <a:srgbClr val="26303D"/>
                </a:solidFill>
                <a:latin typeface="Arial"/>
              </a:rPr>
              <a:t>So với mức chấm thường ngày của chính người đó: </a:t>
            </a:r>
            <a:r>
              <a:rPr sz="1800" b="0" i="0">
                <a:solidFill>
                  <a:srgbClr val="26303D"/>
                </a:solidFill>
                <a:latin typeface="Arial"/>
              </a:rPr>
              <a:t>người dễ tính chấm 4 sao có thể là chê, người khó tính chấm 3 sao có thể là khen.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Với An, lọc theo nội dung chọn Titanic</a:t>
            </a:r>
          </a:p>
        </p:txBody>
      </p:sp>
      <p:pic>
        <p:nvPicPr>
          <p:cNvPr id="4" name="Picture 3" descr="image14.png"/>
          <p:cNvPicPr>
            <a:picLocks noChangeAspect="1"/>
          </p:cNvPicPr>
          <p:nvPr/>
        </p:nvPicPr>
        <p:blipFill>
          <a:blip r:embed="rId3"/>
          <a:stretch>
            <a:fillRect/>
          </a:stretch>
        </p:blipFill>
        <p:spPr>
          <a:xfrm>
            <a:off x="457200" y="1325880"/>
            <a:ext cx="10332720" cy="3490079"/>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An chấm 5 sao một phim tình cảm, hồ sơ nghiêng về Tình cảm, Titanic khớp nhất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theo nội dung: được gì, mất gì</a:t>
            </a:r>
          </a:p>
        </p:txBody>
      </p:sp>
      <p:graphicFrame>
        <p:nvGraphicFramePr>
          <p:cNvPr id="4" name="Table 3"/>
          <p:cNvGraphicFramePr>
            <a:graphicFrameLocks noGrp="1"/>
          </p:cNvGraphicFramePr>
          <p:nvPr/>
        </p:nvGraphicFramePr>
        <p:xfrm>
          <a:off x="457200" y="1371600"/>
          <a:ext cx="11274425" cy="3703320"/>
        </p:xfrm>
        <a:graphic>
          <a:graphicData uri="http://schemas.openxmlformats.org/drawingml/2006/table">
            <a:tbl>
              <a:tblPr firstRow="1" bandRow="1">
                <a:tableStyleId>{5940675A-B579-460E-94D1-54222C63F5DA}</a:tableStyleId>
              </a:tblPr>
              <a:tblGrid>
                <a:gridCol w="5637212"/>
                <a:gridCol w="5637213"/>
              </a:tblGrid>
              <a:tr h="548640">
                <a:tc>
                  <a:txBody>
                    <a:bodyPr wrap="square"/>
                    <a:lstStyle/>
                    <a:p>
                      <a:r>
                        <a:rPr sz="1900" b="1">
                          <a:solidFill>
                            <a:srgbClr val="FFFFFF"/>
                          </a:solidFill>
                          <a:latin typeface="Arial"/>
                        </a:rPr>
                        <a:t>Được</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Mất</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1051560">
                <a:tc>
                  <a:txBody>
                    <a:bodyPr wrap="square"/>
                    <a:lstStyle/>
                    <a:p>
                      <a:r>
                        <a:rPr sz="1900" b="0">
                          <a:solidFill>
                            <a:srgbClr val="26303D"/>
                          </a:solidFill>
                          <a:latin typeface="Arial"/>
                        </a:rPr>
                        <a:t>Chỉ cần mô tả sản phẩm và lịch sử của một người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nghèo thì gợi ý kém: Ma trận và Kẻ hủy diệt 2 cùng thể loại, không phân biệt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1051560">
                <a:tc>
                  <a:txBody>
                    <a:bodyPr wrap="square"/>
                    <a:lstStyle/>
                    <a:p>
                      <a:r>
                        <a:rPr sz="1900" b="0">
                          <a:solidFill>
                            <a:srgbClr val="26303D"/>
                          </a:solidFill>
                          <a:latin typeface="Arial"/>
                        </a:rPr>
                        <a:t>Giải thích được: “vì bạn thích phim tình cảm”</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Quá chuyên biệt: chỉ gợi ý thứ giống cái đã thích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1051560">
                <a:tc>
                  <a:txBody>
                    <a:bodyPr wrap="square"/>
                    <a:lstStyle/>
                    <a:p>
                      <a:r>
                        <a:rPr sz="1900" b="0">
                          <a:solidFill>
                            <a:srgbClr val="26303D"/>
                          </a:solidFill>
                          <a:latin typeface="Arial"/>
                        </a:rPr>
                        <a:t>Gợi ý được sản phẩm mới, chưa ai dùng</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c>
                  <a:txBody>
                    <a:bodyPr wrap="square"/>
                    <a:lstStyle/>
                    <a:p>
                      <a:r>
                        <a:rPr sz="1900" b="0">
                          <a:solidFill>
                            <a:srgbClr val="26303D"/>
                          </a:solidFill>
                          <a:latin typeface="Arial"/>
                        </a:rPr>
                        <a:t>Người dùng mới chưa có hồ sơ</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cộng tác: người từng đồng ý sẽ tiếp tục đồng ý</a:t>
            </a:r>
          </a:p>
        </p:txBody>
      </p:sp>
      <p:sp>
        <p:nvSpPr>
          <p:cNvPr id="4" name="Rounded Rectangle 3"/>
          <p:cNvSpPr/>
          <p:nvPr/>
        </p:nvSpPr>
        <p:spPr>
          <a:xfrm>
            <a:off x="457200" y="1371600"/>
            <a:ext cx="3575261" cy="201168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31520"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1</a:t>
            </a:r>
          </a:p>
        </p:txBody>
      </p:sp>
      <p:sp>
        <p:nvSpPr>
          <p:cNvPr id="6" name="TextBox 5"/>
          <p:cNvSpPr txBox="1"/>
          <p:nvPr/>
        </p:nvSpPr>
        <p:spPr>
          <a:xfrm>
            <a:off x="731520"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Đo độ giống</a:t>
            </a:r>
          </a:p>
        </p:txBody>
      </p:sp>
      <p:sp>
        <p:nvSpPr>
          <p:cNvPr id="7" name="TextBox 6"/>
          <p:cNvSpPr txBox="1"/>
          <p:nvPr/>
        </p:nvSpPr>
        <p:spPr>
          <a:xfrm>
            <a:off x="731520"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hai người có cùng thích, cùng chê những sản phẩm giống nhau không</a:t>
            </a:r>
          </a:p>
        </p:txBody>
      </p:sp>
      <p:sp>
        <p:nvSpPr>
          <p:cNvPr id="8" name="Rounded Rectangle 7"/>
          <p:cNvSpPr/>
          <p:nvPr/>
        </p:nvSpPr>
        <p:spPr>
          <a:xfrm>
            <a:off x="4306781" y="1371600"/>
            <a:ext cx="3575261" cy="201168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4581101"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2</a:t>
            </a:r>
          </a:p>
        </p:txBody>
      </p:sp>
      <p:sp>
        <p:nvSpPr>
          <p:cNvPr id="10" name="TextBox 9"/>
          <p:cNvSpPr txBox="1"/>
          <p:nvPr/>
        </p:nvSpPr>
        <p:spPr>
          <a:xfrm>
            <a:off x="4581101"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Chọn láng giềng</a:t>
            </a:r>
          </a:p>
        </p:txBody>
      </p:sp>
      <p:sp>
        <p:nvSpPr>
          <p:cNvPr id="11" name="TextBox 10"/>
          <p:cNvSpPr txBox="1"/>
          <p:nvPr/>
        </p:nvSpPr>
        <p:spPr>
          <a:xfrm>
            <a:off x="4581101"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k người giống mình nhất</a:t>
            </a:r>
          </a:p>
        </p:txBody>
      </p:sp>
      <p:sp>
        <p:nvSpPr>
          <p:cNvPr id="12" name="Rounded Rectangle 11"/>
          <p:cNvSpPr/>
          <p:nvPr/>
        </p:nvSpPr>
        <p:spPr>
          <a:xfrm>
            <a:off x="8156362" y="1371600"/>
            <a:ext cx="3575261" cy="2011680"/>
          </a:xfrm>
          <a:prstGeom prst="roundRect">
            <a:avLst>
              <a:gd name="adj" fmla="val 6000"/>
            </a:avLst>
          </a:prstGeom>
          <a:solidFill>
            <a:srgbClr val="EAF0F8"/>
          </a:solidFill>
          <a:ln>
            <a:noFill/>
          </a:ln>
          <a:effectLst/>
        </p:spPr>
        <p:txBody>
          <a:bodyPr rtlCol="0" anchor="ctr"/>
          <a:lstStyle/>
          <a:p/>
        </p:txBody>
      </p:sp>
      <p:sp>
        <p:nvSpPr>
          <p:cNvPr id="13" name="TextBox 12"/>
          <p:cNvSpPr txBox="1"/>
          <p:nvPr/>
        </p:nvSpPr>
        <p:spPr>
          <a:xfrm>
            <a:off x="8430682" y="1508760"/>
            <a:ext cx="731520" cy="640080"/>
          </a:xfrm>
          <a:prstGeom prst="rect">
            <a:avLst/>
          </a:prstGeom>
          <a:noFill/>
        </p:spPr>
        <p:txBody>
          <a:bodyPr wrap="square" lIns="0" rIns="0" tIns="0" bIns="0" anchor="t">
            <a:spAutoFit/>
          </a:bodyPr>
          <a:lstStyle/>
          <a:p>
            <a:pPr algn="l">
              <a:lnSpc>
                <a:spcPct val="110000"/>
              </a:lnSpc>
              <a:spcAft>
                <a:spcPts val="0"/>
              </a:spcAft>
            </a:pPr>
            <a:r>
              <a:rPr sz="3200" b="1" i="0">
                <a:solidFill>
                  <a:srgbClr val="F5C518"/>
                </a:solidFill>
                <a:latin typeface="Arial"/>
              </a:rPr>
              <a:t>3</a:t>
            </a:r>
          </a:p>
        </p:txBody>
      </p:sp>
      <p:sp>
        <p:nvSpPr>
          <p:cNvPr id="14" name="TextBox 13"/>
          <p:cNvSpPr txBox="1"/>
          <p:nvPr/>
        </p:nvSpPr>
        <p:spPr>
          <a:xfrm>
            <a:off x="8430682" y="2103120"/>
            <a:ext cx="3026621"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Dự đoán</a:t>
            </a:r>
          </a:p>
        </p:txBody>
      </p:sp>
      <p:sp>
        <p:nvSpPr>
          <p:cNvPr id="15" name="TextBox 14"/>
          <p:cNvSpPr txBox="1"/>
          <p:nvPr/>
        </p:nvSpPr>
        <p:spPr>
          <a:xfrm>
            <a:off x="8430682" y="2514600"/>
            <a:ext cx="3026621" cy="8229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láng giềng thích gì mà mình chưa dùng</a:t>
            </a:r>
          </a:p>
        </p:txBody>
      </p:sp>
      <p:sp>
        <p:nvSpPr>
          <p:cNvPr id="16" name="TextBox 15"/>
          <p:cNvSpPr txBox="1"/>
          <p:nvPr/>
        </p:nvSpPr>
        <p:spPr>
          <a:xfrm>
            <a:off x="457200" y="3794760"/>
            <a:ext cx="11274425"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Hai biến thể</a:t>
            </a:r>
          </a:p>
        </p:txBody>
      </p:sp>
      <p:graphicFrame>
        <p:nvGraphicFramePr>
          <p:cNvPr id="17" name="Table 16"/>
          <p:cNvGraphicFramePr>
            <a:graphicFrameLocks noGrp="1"/>
          </p:cNvGraphicFramePr>
          <p:nvPr/>
        </p:nvGraphicFramePr>
        <p:xfrm>
          <a:off x="457200" y="4251960"/>
          <a:ext cx="11274425" cy="1371600"/>
        </p:xfrm>
        <a:graphic>
          <a:graphicData uri="http://schemas.openxmlformats.org/drawingml/2006/table">
            <a:tbl>
              <a:tblPr firstRow="1" bandRow="1">
                <a:tableStyleId>{5940675A-B579-460E-94D1-54222C63F5DA}</a:tableStyleId>
              </a:tblPr>
              <a:tblGrid>
                <a:gridCol w="2377440"/>
                <a:gridCol w="8896985"/>
              </a:tblGrid>
              <a:tr h="685800">
                <a:tc>
                  <a:txBody>
                    <a:bodyPr wrap="square"/>
                    <a:lstStyle/>
                    <a:p>
                      <a:r>
                        <a:rPr sz="1800" b="1">
                          <a:solidFill>
                            <a:srgbClr val="1C3A6E"/>
                          </a:solidFill>
                          <a:latin typeface="Arial"/>
                        </a:rPr>
                        <a:t>Theo người dùng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“Những người giống bạn cũng thích…”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685800">
                <a:tc>
                  <a:txBody>
                    <a:bodyPr wrap="square"/>
                    <a:lstStyle/>
                    <a:p>
                      <a:r>
                        <a:rPr sz="1800" b="1">
                          <a:solidFill>
                            <a:srgbClr val="1C3A6E"/>
                          </a:solidFill>
                          <a:latin typeface="Arial"/>
                        </a:rPr>
                        <a:t>Theo sản phẩm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“Người thích sản phẩm này cũng thích…”, chính là hàng “Vì bạn đã xem…”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Giống nhau là cùng lên cùng xuống, không phải cùng số sao</a:t>
            </a:r>
          </a:p>
        </p:txBody>
      </p:sp>
      <p:pic>
        <p:nvPicPr>
          <p:cNvPr id="4" name="Picture 3" descr="image15.png"/>
          <p:cNvPicPr>
            <a:picLocks noChangeAspect="1"/>
          </p:cNvPicPr>
          <p:nvPr/>
        </p:nvPicPr>
        <p:blipFill>
          <a:blip r:embed="rId3"/>
          <a:stretch>
            <a:fillRect/>
          </a:stretch>
        </p:blipFill>
        <p:spPr>
          <a:xfrm>
            <a:off x="457200" y="1325880"/>
            <a:ext cx="10058400" cy="3486912"/>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Đo bằng độ tương đồng có chuẩn hoá: từ −1 (ngược gu) đến 1 (cùng gu)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Với An, lọc cộng tác chọn Kẻ hủy diệt 2</a:t>
            </a:r>
          </a:p>
        </p:txBody>
      </p:sp>
      <p:pic>
        <p:nvPicPr>
          <p:cNvPr id="4" name="Picture 3" descr="image16.png"/>
          <p:cNvPicPr>
            <a:picLocks noChangeAspect="1"/>
          </p:cNvPicPr>
          <p:nvPr/>
        </p:nvPicPr>
        <p:blipFill>
          <a:blip r:embed="rId3"/>
          <a:stretch>
            <a:fillRect/>
          </a:stretch>
        </p:blipFill>
        <p:spPr>
          <a:xfrm>
            <a:off x="457200" y="1325880"/>
            <a:ext cx="10332720" cy="3564888"/>
          </a:xfrm>
          <a:prstGeom prst="rect">
            <a:avLst/>
          </a:prstGeom>
        </p:spPr>
      </p:pic>
      <p:sp>
        <p:nvSpPr>
          <p:cNvPr id="5" name="Rounded Rectangle 4"/>
          <p:cNvSpPr/>
          <p:nvPr/>
        </p:nvSpPr>
        <p:spPr>
          <a:xfrm>
            <a:off x="457200" y="512064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12064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Ba người giống An nhất đều chấm Kẻ hủy diệt 2 rất cao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Cùng dữ liệu, hai phương pháp, hai câu trả lời</a:t>
            </a:r>
          </a:p>
        </p:txBody>
      </p:sp>
      <p:sp>
        <p:nvSpPr>
          <p:cNvPr id="4" name="Rounded Rectangle 3"/>
          <p:cNvSpPr/>
          <p:nvPr/>
        </p:nvSpPr>
        <p:spPr>
          <a:xfrm>
            <a:off x="457200" y="1463040"/>
            <a:ext cx="5500052" cy="23774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457200" y="1691640"/>
            <a:ext cx="5500052" cy="411480"/>
          </a:xfrm>
          <a:prstGeom prst="rect">
            <a:avLst/>
          </a:prstGeom>
          <a:noFill/>
        </p:spPr>
        <p:txBody>
          <a:bodyPr wrap="square" lIns="0" rIns="0" tIns="0" bIns="0" anchor="t">
            <a:spAutoFit/>
          </a:bodyPr>
          <a:lstStyle/>
          <a:p>
            <a:pPr algn="ctr">
              <a:lnSpc>
                <a:spcPct val="110000"/>
              </a:lnSpc>
              <a:spcAft>
                <a:spcPts val="0"/>
              </a:spcAft>
            </a:pPr>
            <a:r>
              <a:rPr sz="1800" b="0" i="0">
                <a:solidFill>
                  <a:srgbClr val="1C3A6E"/>
                </a:solidFill>
                <a:latin typeface="Arial"/>
              </a:rPr>
              <a:t>Lọc theo nội dung</a:t>
            </a:r>
          </a:p>
        </p:txBody>
      </p:sp>
      <p:sp>
        <p:nvSpPr>
          <p:cNvPr id="6" name="TextBox 5"/>
          <p:cNvSpPr txBox="1"/>
          <p:nvPr/>
        </p:nvSpPr>
        <p:spPr>
          <a:xfrm>
            <a:off x="457200" y="2148840"/>
            <a:ext cx="5500052" cy="822960"/>
          </a:xfrm>
          <a:prstGeom prst="rect">
            <a:avLst/>
          </a:prstGeom>
          <a:noFill/>
        </p:spPr>
        <p:txBody>
          <a:bodyPr wrap="square" lIns="0" rIns="0" tIns="0" bIns="0" anchor="ctr">
            <a:spAutoFit/>
          </a:bodyPr>
          <a:lstStyle/>
          <a:p>
            <a:pPr algn="ctr">
              <a:lnSpc>
                <a:spcPct val="110000"/>
              </a:lnSpc>
              <a:spcAft>
                <a:spcPts val="0"/>
              </a:spcAft>
            </a:pPr>
            <a:r>
              <a:rPr sz="4000" b="1" i="0">
                <a:solidFill>
                  <a:srgbClr val="1C3A6E"/>
                </a:solidFill>
                <a:latin typeface="Arial"/>
              </a:rPr>
              <a:t>Titanic</a:t>
            </a:r>
          </a:p>
        </p:txBody>
      </p:sp>
      <p:sp>
        <p:nvSpPr>
          <p:cNvPr id="7" name="TextBox 6"/>
          <p:cNvSpPr txBox="1"/>
          <p:nvPr/>
        </p:nvSpPr>
        <p:spPr>
          <a:xfrm>
            <a:off x="457200" y="3063240"/>
            <a:ext cx="5500052"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26303D"/>
                </a:solidFill>
                <a:latin typeface="Arial"/>
              </a:rPr>
              <a:t>vì An thích một phim tình cảm</a:t>
            </a:r>
          </a:p>
        </p:txBody>
      </p:sp>
      <p:sp>
        <p:nvSpPr>
          <p:cNvPr id="8" name="Rounded Rectangle 7"/>
          <p:cNvSpPr/>
          <p:nvPr/>
        </p:nvSpPr>
        <p:spPr>
          <a:xfrm>
            <a:off x="6231572" y="1463040"/>
            <a:ext cx="5500052" cy="2377440"/>
          </a:xfrm>
          <a:prstGeom prst="roundRect">
            <a:avLst>
              <a:gd name="adj" fmla="val 6000"/>
            </a:avLst>
          </a:prstGeom>
          <a:solidFill>
            <a:srgbClr val="F5C518"/>
          </a:solidFill>
          <a:ln>
            <a:noFill/>
          </a:ln>
          <a:effectLst/>
        </p:spPr>
        <p:txBody>
          <a:bodyPr rtlCol="0" anchor="ctr"/>
          <a:lstStyle/>
          <a:p/>
        </p:txBody>
      </p:sp>
      <p:sp>
        <p:nvSpPr>
          <p:cNvPr id="9" name="TextBox 8"/>
          <p:cNvSpPr txBox="1"/>
          <p:nvPr/>
        </p:nvSpPr>
        <p:spPr>
          <a:xfrm>
            <a:off x="6231572" y="1691640"/>
            <a:ext cx="5500052" cy="411480"/>
          </a:xfrm>
          <a:prstGeom prst="rect">
            <a:avLst/>
          </a:prstGeom>
          <a:noFill/>
        </p:spPr>
        <p:txBody>
          <a:bodyPr wrap="square" lIns="0" rIns="0" tIns="0" bIns="0" anchor="t">
            <a:spAutoFit/>
          </a:bodyPr>
          <a:lstStyle/>
          <a:p>
            <a:pPr algn="ctr">
              <a:lnSpc>
                <a:spcPct val="110000"/>
              </a:lnSpc>
              <a:spcAft>
                <a:spcPts val="0"/>
              </a:spcAft>
            </a:pPr>
            <a:r>
              <a:rPr sz="1800" b="0" i="0">
                <a:solidFill>
                  <a:srgbClr val="1C3A6E"/>
                </a:solidFill>
                <a:latin typeface="Arial"/>
              </a:rPr>
              <a:t>Lọc cộng tác</a:t>
            </a:r>
          </a:p>
        </p:txBody>
      </p:sp>
      <p:sp>
        <p:nvSpPr>
          <p:cNvPr id="10" name="TextBox 9"/>
          <p:cNvSpPr txBox="1"/>
          <p:nvPr/>
        </p:nvSpPr>
        <p:spPr>
          <a:xfrm>
            <a:off x="6231572" y="2148840"/>
            <a:ext cx="5500052" cy="822960"/>
          </a:xfrm>
          <a:prstGeom prst="rect">
            <a:avLst/>
          </a:prstGeom>
          <a:noFill/>
        </p:spPr>
        <p:txBody>
          <a:bodyPr wrap="square" lIns="0" rIns="0" tIns="0" bIns="0" anchor="ctr">
            <a:spAutoFit/>
          </a:bodyPr>
          <a:lstStyle/>
          <a:p>
            <a:pPr algn="ctr">
              <a:lnSpc>
                <a:spcPct val="110000"/>
              </a:lnSpc>
              <a:spcAft>
                <a:spcPts val="0"/>
              </a:spcAft>
            </a:pPr>
            <a:r>
              <a:rPr sz="4000" b="1" i="0">
                <a:solidFill>
                  <a:srgbClr val="1C3A6E"/>
                </a:solidFill>
                <a:latin typeface="Arial"/>
              </a:rPr>
              <a:t>Kẻ hủy diệt 2</a:t>
            </a:r>
          </a:p>
        </p:txBody>
      </p:sp>
      <p:sp>
        <p:nvSpPr>
          <p:cNvPr id="11" name="TextBox 10"/>
          <p:cNvSpPr txBox="1"/>
          <p:nvPr/>
        </p:nvSpPr>
        <p:spPr>
          <a:xfrm>
            <a:off x="6231572" y="3063240"/>
            <a:ext cx="5500052" cy="457200"/>
          </a:xfrm>
          <a:prstGeom prst="rect">
            <a:avLst/>
          </a:prstGeom>
          <a:noFill/>
        </p:spPr>
        <p:txBody>
          <a:bodyPr wrap="square" lIns="0" rIns="0" tIns="0" bIns="0" anchor="t">
            <a:spAutoFit/>
          </a:bodyPr>
          <a:lstStyle/>
          <a:p>
            <a:pPr algn="ctr">
              <a:lnSpc>
                <a:spcPct val="110000"/>
              </a:lnSpc>
              <a:spcAft>
                <a:spcPts val="0"/>
              </a:spcAft>
            </a:pPr>
            <a:r>
              <a:rPr sz="1600" b="0" i="0">
                <a:solidFill>
                  <a:srgbClr val="26303D"/>
                </a:solidFill>
                <a:latin typeface="Arial"/>
              </a:rPr>
              <a:t>vì người giống An đều chấm rất cao</a:t>
            </a:r>
          </a:p>
        </p:txBody>
      </p:sp>
      <p:sp>
        <p:nvSpPr>
          <p:cNvPr id="12" name="Rounded Rectangle 11"/>
          <p:cNvSpPr/>
          <p:nvPr/>
        </p:nvSpPr>
        <p:spPr>
          <a:xfrm>
            <a:off x="457200" y="4206240"/>
            <a:ext cx="11274425" cy="1097280"/>
          </a:xfrm>
          <a:prstGeom prst="roundRect">
            <a:avLst>
              <a:gd name="adj" fmla="val 8000"/>
            </a:avLst>
          </a:prstGeom>
          <a:solidFill>
            <a:srgbClr val="FFF6D6"/>
          </a:solidFill>
          <a:ln>
            <a:noFill/>
          </a:ln>
          <a:effectLst/>
        </p:spPr>
        <p:txBody>
          <a:bodyPr rtlCol="0" anchor="ctr"/>
          <a:lstStyle/>
          <a:p/>
        </p:txBody>
      </p:sp>
      <p:sp>
        <p:nvSpPr>
          <p:cNvPr id="13" name="TextBox 12"/>
          <p:cNvSpPr txBox="1"/>
          <p:nvPr/>
        </p:nvSpPr>
        <p:spPr>
          <a:xfrm>
            <a:off x="731520" y="4206240"/>
            <a:ext cx="10725785" cy="109728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Thảo luận. </a:t>
            </a:r>
            <a:r>
              <a:rPr sz="1800" b="0" i="0">
                <a:solidFill>
                  <a:srgbClr val="26303D"/>
                </a:solidFill>
                <a:latin typeface="Arial"/>
              </a:rPr>
              <a:t>Lọc cộng tác không biết Kẻ hủy diệt 2 thuộc thể loại gì. Nó dựa vào đâu? Nếu phải chọn một, bạn kiểm chứng phương pháp nào đúng bằng cách nào?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Lọc cộng tác tự học ra thể loại từ hành vi</a:t>
            </a:r>
          </a:p>
        </p:txBody>
      </p:sp>
      <p:pic>
        <p:nvPicPr>
          <p:cNvPr id="4" name="Picture 3" descr="image17.png"/>
          <p:cNvPicPr>
            <a:picLocks noChangeAspect="1"/>
          </p:cNvPicPr>
          <p:nvPr/>
        </p:nvPicPr>
        <p:blipFill>
          <a:blip r:embed="rId3"/>
          <a:stretch>
            <a:fillRect/>
          </a:stretch>
        </p:blipFill>
        <p:spPr>
          <a:xfrm>
            <a:off x="457200" y="1280160"/>
            <a:ext cx="9509760" cy="3651748"/>
          </a:xfrm>
          <a:prstGeom prst="rect">
            <a:avLst/>
          </a:prstGeom>
        </p:spPr>
      </p:pic>
      <p:sp>
        <p:nvSpPr>
          <p:cNvPr id="5" name="Rounded Rectangle 4"/>
          <p:cNvSpPr/>
          <p:nvPr/>
        </p:nvSpPr>
        <p:spPr>
          <a:xfrm>
            <a:off x="457200" y="5486400"/>
            <a:ext cx="11274425" cy="64008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486400"/>
            <a:ext cx="10725785" cy="64008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Nó tìm lại được thể loại, và thêm cả những liên hệ mà mô tả không có</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Lọc cộng tác theo sản phẩm trên MovieLens 1M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Ba lỗi hay gặp khi đo độ giống</a:t>
            </a:r>
          </a:p>
        </p:txBody>
      </p:sp>
      <p:graphicFrame>
        <p:nvGraphicFramePr>
          <p:cNvPr id="4" name="Table 3"/>
          <p:cNvGraphicFramePr>
            <a:graphicFrameLocks noGrp="1"/>
          </p:cNvGraphicFramePr>
          <p:nvPr/>
        </p:nvGraphicFramePr>
        <p:xfrm>
          <a:off x="457200" y="1371600"/>
          <a:ext cx="11274425" cy="4114800"/>
        </p:xfrm>
        <a:graphic>
          <a:graphicData uri="http://schemas.openxmlformats.org/drawingml/2006/table">
            <a:tbl>
              <a:tblPr firstRow="1" bandRow="1">
                <a:tableStyleId>{5940675A-B579-460E-94D1-54222C63F5DA}</a:tableStyleId>
              </a:tblPr>
              <a:tblGrid>
                <a:gridCol w="2743200"/>
                <a:gridCol w="4572000"/>
                <a:gridCol w="3959225"/>
              </a:tblGrid>
              <a:tr h="548640">
                <a:tc>
                  <a:txBody>
                    <a:bodyPr wrap="square"/>
                    <a:lstStyle/>
                    <a:p>
                      <a:r>
                        <a:rPr sz="1800" b="1">
                          <a:solidFill>
                            <a:srgbClr val="FFFFFF"/>
                          </a:solidFill>
                          <a:latin typeface="Arial"/>
                        </a:rPr>
                        <a:t>Lỗi</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Chuyện gì xảy ra</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Cách tránh</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1188720">
                <a:tc>
                  <a:txBody>
                    <a:bodyPr wrap="square"/>
                    <a:lstStyle/>
                    <a:p>
                      <a:r>
                        <a:rPr sz="1800" b="1">
                          <a:solidFill>
                            <a:srgbClr val="1C3A6E"/>
                          </a:solidFill>
                          <a:latin typeface="Arial"/>
                        </a:rPr>
                        <a:t>Chỉ đếm vài sản phẩm chung</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Hai người chung 3 phim, chấm trùng nhau, bị coi là “giống hệt”.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Đòi hỏi đủ số sản phẩm chung; không dùng khoảng cách thô.</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1188720">
                <a:tc>
                  <a:txBody>
                    <a:bodyPr wrap="square"/>
                    <a:lstStyle/>
                    <a:p>
                      <a:r>
                        <a:rPr sz="1800" b="1">
                          <a:solidFill>
                            <a:srgbClr val="1C3A6E"/>
                          </a:solidFill>
                          <a:latin typeface="Arial"/>
                        </a:rPr>
                        <a:t>Không trừ mức dễ tính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Điểm sao luôn dương nên ai trông cũng giống ai.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So với mức chấm thường ngày của từng người.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1188720">
                <a:tc>
                  <a:txBody>
                    <a:bodyPr wrap="square"/>
                    <a:lstStyle/>
                    <a:p>
                      <a:r>
                        <a:rPr sz="1800" b="1">
                          <a:solidFill>
                            <a:srgbClr val="1C3A6E"/>
                          </a:solidFill>
                          <a:latin typeface="Arial"/>
                        </a:rPr>
                        <a:t>Xếp ngược chiều</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Độ giống càng lớn càng giống; xếp tăng dần là chọn đúng người khác mình nhất.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In danh sách láng giềng ra và đọc thử.</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phương pháp bù cho nhau</a:t>
            </a:r>
          </a:p>
        </p:txBody>
      </p:sp>
      <p:graphicFrame>
        <p:nvGraphicFramePr>
          <p:cNvPr id="4" name="Table 3"/>
          <p:cNvGraphicFramePr>
            <a:graphicFrameLocks noGrp="1"/>
          </p:cNvGraphicFramePr>
          <p:nvPr/>
        </p:nvGraphicFramePr>
        <p:xfrm>
          <a:off x="457200" y="1371600"/>
          <a:ext cx="11274425" cy="4434840"/>
        </p:xfrm>
        <a:graphic>
          <a:graphicData uri="http://schemas.openxmlformats.org/drawingml/2006/table">
            <a:tbl>
              <a:tblPr firstRow="1" bandRow="1">
                <a:tableStyleId>{5940675A-B579-460E-94D1-54222C63F5DA}</a:tableStyleId>
              </a:tblPr>
              <a:tblGrid>
                <a:gridCol w="2377440"/>
                <a:gridCol w="4448492"/>
                <a:gridCol w="4448493"/>
              </a:tblGrid>
              <a:tr h="548640">
                <a:tc>
                  <a:txBody>
                    <a:bodyPr wrap="square"/>
                    <a:lstStyle/>
                    <a:p>
                      <a:r>
                        <a:rPr sz="1900" b="1">
                          <a:solidFill>
                            <a:srgbClr val="FFFFFF"/>
                          </a:solidFill>
                          <a:latin typeface="Arial"/>
                        </a:rPr>
                        <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Lọc theo nội dung</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900" b="1">
                          <a:solidFill>
                            <a:srgbClr val="FFFFFF"/>
                          </a:solidFill>
                          <a:latin typeface="Arial"/>
                        </a:rPr>
                        <a:t>Lọc cộng tác</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777240">
                <a:tc>
                  <a:txBody>
                    <a:bodyPr wrap="square"/>
                    <a:lstStyle/>
                    <a:p>
                      <a:r>
                        <a:rPr sz="1900" b="1">
                          <a:solidFill>
                            <a:srgbClr val="1C3A6E"/>
                          </a:solidFill>
                          <a:latin typeface="Arial"/>
                        </a:rPr>
                        <a:t>Cần</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sản phẩm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lịch sử của nhiều người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777240">
                <a:tc>
                  <a:txBody>
                    <a:bodyPr wrap="square"/>
                    <a:lstStyle/>
                    <a:p>
                      <a:r>
                        <a:rPr sz="1900" b="1">
                          <a:solidFill>
                            <a:srgbClr val="1C3A6E"/>
                          </a:solidFill>
                          <a:latin typeface="Arial"/>
                        </a:rPr>
                        <a:t>Mạnh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giải thích được; gợi ý được sản phẩm mới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cần mô tả; gợi ý bất ngờ</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777240">
                <a:tc>
                  <a:txBody>
                    <a:bodyPr wrap="square"/>
                    <a:lstStyle/>
                    <a:p>
                      <a:r>
                        <a:rPr sz="1900" b="1">
                          <a:solidFill>
                            <a:srgbClr val="1C3A6E"/>
                          </a:solidFill>
                          <a:latin typeface="Arial"/>
                        </a:rPr>
                        <a:t>Yếu</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mô tả nghèo; quá chuyên biệt</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dữ liệu thưa; tính toán nặng</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777240">
                <a:tc>
                  <a:txBody>
                    <a:bodyPr wrap="square"/>
                    <a:lstStyle/>
                    <a:p>
                      <a:r>
                        <a:rPr sz="1900" b="1">
                          <a:solidFill>
                            <a:srgbClr val="1C3A6E"/>
                          </a:solidFill>
                          <a:latin typeface="Arial"/>
                        </a:rPr>
                        <a:t>Người dùng mới</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777240">
                <a:tc>
                  <a:txBody>
                    <a:bodyPr wrap="square"/>
                    <a:lstStyle/>
                    <a:p>
                      <a:r>
                        <a:rPr sz="1900" b="1">
                          <a:solidFill>
                            <a:srgbClr val="1C3A6E"/>
                          </a:solidFill>
                          <a:latin typeface="Arial"/>
                        </a:rPr>
                        <a:t>Sản phẩm mới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900" b="0">
                          <a:solidFill>
                            <a:srgbClr val="26303D"/>
                          </a:solidFill>
                          <a:latin typeface="Arial"/>
                        </a:rPr>
                        <a:t>gợi ý được</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c>
                  <a:txBody>
                    <a:bodyPr wrap="square"/>
                    <a:lstStyle/>
                    <a:p>
                      <a:r>
                        <a:rPr sz="1900" b="0">
                          <a:solidFill>
                            <a:srgbClr val="26303D"/>
                          </a:solidFill>
                          <a:latin typeface="Arial"/>
                        </a:rPr>
                        <a:t>không gợi ý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4</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Làm sao biết hệ gợi ý tốt?</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Chỉ số kỹ thuật, đường cơ sở, và khoảng cách tới mục tiêu kinh doanh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Netflix Prize: 1 triệu USD để giảm 10% sai số dự đoán</a:t>
            </a:r>
          </a:p>
        </p:txBody>
      </p:sp>
      <p:pic>
        <p:nvPicPr>
          <p:cNvPr id="4" name="Picture 3" descr="image18.png"/>
          <p:cNvPicPr>
            <a:picLocks noChangeAspect="1"/>
          </p:cNvPicPr>
          <p:nvPr/>
        </p:nvPicPr>
        <p:blipFill>
          <a:blip r:embed="rId3"/>
          <a:stretch>
            <a:fillRect/>
          </a:stretch>
        </p:blipFill>
        <p:spPr>
          <a:xfrm>
            <a:off x="457200" y="1280160"/>
            <a:ext cx="10607040" cy="4053097"/>
          </a:xfrm>
          <a:prstGeom prst="rect">
            <a:avLst/>
          </a:prstGeom>
        </p:spPr>
      </p:pic>
      <p:sp>
        <p:nvSpPr>
          <p:cNvPr id="5" name="Rounded Rectangle 4"/>
          <p:cNvSpPr/>
          <p:nvPr/>
        </p:nvSpPr>
        <p:spPr>
          <a:xfrm>
            <a:off x="457200" y="5440680"/>
            <a:ext cx="11274425" cy="77724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544068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4. </a:t>
            </a:r>
            <a:r>
              <a:rPr sz="1800" b="0" i="0">
                <a:solidFill>
                  <a:srgbClr val="26303D"/>
                </a:solidFill>
                <a:latin typeface="Arial"/>
              </a:rPr>
              <a:t>Netflix trả 1 triệu USD rồi không dùng mô hình thắng giải. Cuộc thi thành công hay thất bại?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Phân rã ma trận: đặt người và sản phẩm lên cùng một bản đồ</a:t>
            </a:r>
          </a:p>
        </p:txBody>
      </p:sp>
      <p:pic>
        <p:nvPicPr>
          <p:cNvPr id="4" name="Picture 3" descr="image19.png"/>
          <p:cNvPicPr>
            <a:picLocks noChangeAspect="1"/>
          </p:cNvPicPr>
          <p:nvPr/>
        </p:nvPicPr>
        <p:blipFill>
          <a:blip r:embed="rId3"/>
          <a:stretch>
            <a:fillRect/>
          </a:stretch>
        </p:blipFill>
        <p:spPr>
          <a:xfrm>
            <a:off x="457200" y="1280160"/>
            <a:ext cx="7174993" cy="4114800"/>
          </a:xfrm>
          <a:prstGeom prst="rect">
            <a:avLst/>
          </a:prstGeom>
        </p:spPr>
      </p:pic>
      <p:sp>
        <p:nvSpPr>
          <p:cNvPr id="5" name="TextBox 4"/>
          <p:cNvSpPr txBox="1"/>
          <p:nvPr/>
        </p:nvSpPr>
        <p:spPr>
          <a:xfrm>
            <a:off x="7863840" y="1463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Mỗi sản phẩm một vị trí</a:t>
            </a:r>
          </a:p>
        </p:txBody>
      </p:sp>
      <p:sp>
        <p:nvSpPr>
          <p:cNvPr id="6" name="TextBox 5"/>
          <p:cNvSpPr txBox="1"/>
          <p:nvPr/>
        </p:nvSpPr>
        <p:spPr>
          <a:xfrm>
            <a:off x="7863840" y="1874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vài “yếu tố ẩn” do mô hình tự tìm ra</a:t>
            </a:r>
          </a:p>
        </p:txBody>
      </p:sp>
      <p:sp>
        <p:nvSpPr>
          <p:cNvPr id="7" name="TextBox 6"/>
          <p:cNvSpPr txBox="1"/>
          <p:nvPr/>
        </p:nvSpPr>
        <p:spPr>
          <a:xfrm>
            <a:off x="7863840" y="2606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Mỗi người một vị trí</a:t>
            </a:r>
          </a:p>
        </p:txBody>
      </p:sp>
      <p:sp>
        <p:nvSpPr>
          <p:cNvPr id="8" name="TextBox 7"/>
          <p:cNvSpPr txBox="1"/>
          <p:nvPr/>
        </p:nvSpPr>
        <p:spPr>
          <a:xfrm>
            <a:off x="7863840" y="3017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khẩu vị</a:t>
            </a:r>
          </a:p>
        </p:txBody>
      </p:sp>
      <p:sp>
        <p:nvSpPr>
          <p:cNvPr id="9" name="TextBox 8"/>
          <p:cNvSpPr txBox="1"/>
          <p:nvPr/>
        </p:nvSpPr>
        <p:spPr>
          <a:xfrm>
            <a:off x="7863840" y="3749040"/>
            <a:ext cx="3867912" cy="41148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Gần nhau là hợp nhau</a:t>
            </a:r>
          </a:p>
        </p:txBody>
      </p:sp>
      <p:sp>
        <p:nvSpPr>
          <p:cNvPr id="10" name="TextBox 9"/>
          <p:cNvSpPr txBox="1"/>
          <p:nvPr/>
        </p:nvSpPr>
        <p:spPr>
          <a:xfrm>
            <a:off x="7863840" y="4160520"/>
            <a:ext cx="3867912" cy="54864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gợi ý những phim nằm gần An</a:t>
            </a:r>
          </a:p>
        </p:txBody>
      </p:sp>
      <p:sp>
        <p:nvSpPr>
          <p:cNvPr id="11" name="TextBox 10"/>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Koren, Bell &amp; Volinsky (2009). Hình minh hoạ ý tưởng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Đánh giá offline: học trên quá khứ, chấm trên tương lai</a:t>
            </a:r>
          </a:p>
        </p:txBody>
      </p:sp>
      <p:sp>
        <p:nvSpPr>
          <p:cNvPr id="4" name="Rectangle 3"/>
          <p:cNvSpPr/>
          <p:nvPr/>
        </p:nvSpPr>
        <p:spPr>
          <a:xfrm>
            <a:off x="457200" y="1463040"/>
            <a:ext cx="7215632" cy="914400"/>
          </a:xfrm>
          <a:prstGeom prst="rect">
            <a:avLst/>
          </a:prstGeom>
          <a:solidFill>
            <a:srgbClr val="1C3A6E"/>
          </a:solidFill>
          <a:ln>
            <a:noFill/>
          </a:ln>
          <a:effectLst/>
        </p:spPr>
        <p:txBody>
          <a:bodyPr rtlCol="0" anchor="ctr"/>
          <a:lstStyle/>
          <a:p/>
        </p:txBody>
      </p:sp>
      <p:sp>
        <p:nvSpPr>
          <p:cNvPr id="5" name="TextBox 4"/>
          <p:cNvSpPr txBox="1"/>
          <p:nvPr/>
        </p:nvSpPr>
        <p:spPr>
          <a:xfrm>
            <a:off x="731520" y="1463040"/>
            <a:ext cx="6666992" cy="91440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Dùng để học: </a:t>
            </a:r>
            <a:r>
              <a:rPr sz="1800" b="0" i="0">
                <a:solidFill>
                  <a:srgbClr val="FFFFFF"/>
                </a:solidFill>
                <a:latin typeface="Arial"/>
              </a:rPr>
              <a:t>80% tương tác sớm nhất của mỗi người</a:t>
            </a:r>
          </a:p>
        </p:txBody>
      </p:sp>
      <p:sp>
        <p:nvSpPr>
          <p:cNvPr id="6" name="Rectangle 5"/>
          <p:cNvSpPr/>
          <p:nvPr/>
        </p:nvSpPr>
        <p:spPr>
          <a:xfrm>
            <a:off x="7672832" y="1463040"/>
            <a:ext cx="4058793" cy="914400"/>
          </a:xfrm>
          <a:prstGeom prst="rect">
            <a:avLst/>
          </a:prstGeom>
          <a:solidFill>
            <a:srgbClr val="F5C518"/>
          </a:solidFill>
          <a:ln>
            <a:noFill/>
          </a:ln>
          <a:effectLst/>
        </p:spPr>
        <p:txBody>
          <a:bodyPr rtlCol="0" anchor="ctr"/>
          <a:lstStyle/>
          <a:p/>
        </p:txBody>
      </p:sp>
      <p:sp>
        <p:nvSpPr>
          <p:cNvPr id="7" name="TextBox 6"/>
          <p:cNvSpPr txBox="1"/>
          <p:nvPr/>
        </p:nvSpPr>
        <p:spPr>
          <a:xfrm>
            <a:off x="7947152" y="1463040"/>
            <a:ext cx="3510153" cy="91440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Dùng để chấm: </a:t>
            </a:r>
            <a:r>
              <a:rPr sz="1800" b="0" i="0">
                <a:solidFill>
                  <a:srgbClr val="1C3A6E"/>
                </a:solidFill>
                <a:latin typeface="Arial"/>
              </a:rPr>
              <a:t>20% muộn nhất</a:t>
            </a:r>
          </a:p>
        </p:txBody>
      </p:sp>
      <p:sp>
        <p:nvSpPr>
          <p:cNvPr id="8" name="TextBox 7"/>
          <p:cNvSpPr txBox="1"/>
          <p:nvPr/>
        </p:nvSpPr>
        <p:spPr>
          <a:xfrm>
            <a:off x="457200" y="2651760"/>
            <a:ext cx="5486400"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Đo gì</a:t>
            </a:r>
          </a:p>
        </p:txBody>
      </p:sp>
      <p:sp>
        <p:nvSpPr>
          <p:cNvPr id="9" name="TextBox 8"/>
          <p:cNvSpPr txBox="1"/>
          <p:nvPr/>
        </p:nvSpPr>
        <p:spPr>
          <a:xfrm>
            <a:off x="457200" y="3108960"/>
            <a:ext cx="5486400" cy="201168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Độ chính xác P@K: </a:t>
            </a:r>
            <a:r>
              <a:rPr sz="1800" b="0" i="0">
                <a:solidFill>
                  <a:srgbClr val="26303D"/>
                </a:solidFill>
                <a:latin typeface="Arial"/>
              </a:rPr>
              <a:t>trong K sản phẩm gợi ý, bao nhiêu sản phẩm người đó thật sự dùng sau này.</a:t>
            </a:r>
          </a:p>
          <a:p>
            <a:pPr algn="l" marL="251460" indent="-251460">
              <a:lnSpc>
                <a:spcPct val="110000"/>
              </a:lnSpc>
              <a:spcAft>
                <a:spcPts val="1000"/>
              </a:spcAft>
              <a:buFont typeface="Arial"/>
              <a:buChar char="•"/>
            </a:pPr>
            <a:r>
              <a:rPr sz="1800" b="1" i="0">
                <a:solidFill>
                  <a:srgbClr val="26303D"/>
                </a:solidFill>
                <a:latin typeface="Arial"/>
              </a:rPr>
              <a:t>Độ phủ danh mục: </a:t>
            </a:r>
            <a:r>
              <a:rPr sz="1800" b="0" i="0">
                <a:solidFill>
                  <a:srgbClr val="26303D"/>
                </a:solidFill>
                <a:latin typeface="Arial"/>
              </a:rPr>
              <a:t>bao nhiêu phần trăm danh mục từng được gợi ý cho ai đó.</a:t>
            </a:r>
          </a:p>
        </p:txBody>
      </p:sp>
      <p:sp>
        <p:nvSpPr>
          <p:cNvPr id="10" name="TextBox 9"/>
          <p:cNvSpPr txBox="1"/>
          <p:nvPr/>
        </p:nvSpPr>
        <p:spPr>
          <a:xfrm>
            <a:off x="6400800" y="2651760"/>
            <a:ext cx="5330952" cy="411480"/>
          </a:xfrm>
          <a:prstGeom prst="rect">
            <a:avLst/>
          </a:prstGeom>
          <a:noFill/>
        </p:spPr>
        <p:txBody>
          <a:bodyPr wrap="square" lIns="0" rIns="0" tIns="0" bIns="0" anchor="t">
            <a:spAutoFit/>
          </a:bodyPr>
          <a:lstStyle/>
          <a:p>
            <a:pPr algn="l">
              <a:lnSpc>
                <a:spcPct val="110000"/>
              </a:lnSpc>
              <a:spcAft>
                <a:spcPts val="0"/>
              </a:spcAft>
            </a:pPr>
            <a:r>
              <a:rPr sz="2000" b="1" i="0">
                <a:solidFill>
                  <a:srgbClr val="1C3A6E"/>
                </a:solidFill>
                <a:latin typeface="Arial"/>
              </a:rPr>
              <a:t>So với gì</a:t>
            </a:r>
          </a:p>
        </p:txBody>
      </p:sp>
      <p:sp>
        <p:nvSpPr>
          <p:cNvPr id="11" name="TextBox 10"/>
          <p:cNvSpPr txBox="1"/>
          <p:nvPr/>
        </p:nvSpPr>
        <p:spPr>
          <a:xfrm>
            <a:off x="6400800" y="3108960"/>
            <a:ext cx="5330952" cy="2011680"/>
          </a:xfrm>
          <a:prstGeom prst="rect">
            <a:avLst/>
          </a:prstGeom>
          <a:noFill/>
        </p:spPr>
        <p:txBody>
          <a:bodyPr wrap="square" lIns="0" rIns="0" tIns="0" bIns="0" anchor="t">
            <a:spAutoFit/>
          </a:bodyPr>
          <a:lstStyle/>
          <a:p>
            <a:pPr algn="l" marL="251460" indent="-251460">
              <a:lnSpc>
                <a:spcPct val="110000"/>
              </a:lnSpc>
              <a:spcAft>
                <a:spcPts val="1000"/>
              </a:spcAft>
              <a:buFont typeface="Arial"/>
              <a:buChar char="•"/>
            </a:pPr>
            <a:r>
              <a:rPr sz="1800" b="1" i="0">
                <a:solidFill>
                  <a:srgbClr val="26303D"/>
                </a:solidFill>
                <a:latin typeface="Arial"/>
              </a:rPr>
              <a:t>Gợi ý ngẫu nhiên: </a:t>
            </a:r>
            <a:r>
              <a:rPr sz="1800" b="0" i="0">
                <a:solidFill>
                  <a:srgbClr val="26303D"/>
                </a:solidFill>
                <a:latin typeface="Arial"/>
              </a:rPr>
              <a:t>mức sàn.</a:t>
            </a:r>
          </a:p>
          <a:p>
            <a:pPr algn="l" marL="251460" indent="-251460">
              <a:lnSpc>
                <a:spcPct val="110000"/>
              </a:lnSpc>
              <a:spcAft>
                <a:spcPts val="1000"/>
              </a:spcAft>
              <a:buFont typeface="Arial"/>
              <a:buChar char="•"/>
            </a:pPr>
            <a:r>
              <a:rPr sz="1800" b="1" i="0">
                <a:solidFill>
                  <a:srgbClr val="26303D"/>
                </a:solidFill>
                <a:latin typeface="Arial"/>
              </a:rPr>
              <a:t>Gợi ý phổ biến nhất: </a:t>
            </a:r>
            <a:r>
              <a:rPr sz="1800" b="0" i="0">
                <a:solidFill>
                  <a:srgbClr val="26303D"/>
                </a:solidFill>
                <a:latin typeface="Arial"/>
              </a:rPr>
              <a:t>cùng một danh sách cho mọi người.</a:t>
            </a:r>
          </a:p>
        </p:txBody>
      </p:sp>
      <p:sp>
        <p:nvSpPr>
          <p:cNvPr id="12" name="Rounded Rectangle 11"/>
          <p:cNvSpPr/>
          <p:nvPr/>
        </p:nvSpPr>
        <p:spPr>
          <a:xfrm>
            <a:off x="457200" y="525780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525780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Mô hình không vượt được gợi ý phổ biến nhất thì chưa đáng triển khai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Trên MovieLens, gợi ý phổ biến nhất đã khó vượt</a:t>
            </a:r>
          </a:p>
        </p:txBody>
      </p:sp>
      <p:pic>
        <p:nvPicPr>
          <p:cNvPr id="4" name="Picture 3" descr="image21.png"/>
          <p:cNvPicPr>
            <a:picLocks noChangeAspect="1"/>
          </p:cNvPicPr>
          <p:nvPr/>
        </p:nvPicPr>
        <p:blipFill>
          <a:blip r:embed="rId3"/>
          <a:stretch>
            <a:fillRect/>
          </a:stretch>
        </p:blipFill>
        <p:spPr>
          <a:xfrm>
            <a:off x="457200" y="1280160"/>
            <a:ext cx="10058400" cy="3719328"/>
          </a:xfrm>
          <a:prstGeom prst="rect">
            <a:avLst/>
          </a:prstGeom>
        </p:spPr>
      </p:pic>
      <p:sp>
        <p:nvSpPr>
          <p:cNvPr id="5" name="Rounded Rectangle 4"/>
          <p:cNvSpPr/>
          <p:nvPr/>
        </p:nvSpPr>
        <p:spPr>
          <a:xfrm>
            <a:off x="457200" y="5257800"/>
            <a:ext cx="11274425" cy="731520"/>
          </a:xfrm>
          <a:prstGeom prst="roundRect">
            <a:avLst>
              <a:gd name="adj" fmla="val 8000"/>
            </a:avLst>
          </a:prstGeom>
          <a:solidFill>
            <a:srgbClr val="1C3A6E"/>
          </a:solidFill>
          <a:ln>
            <a:noFill/>
          </a:ln>
          <a:effectLst/>
        </p:spPr>
        <p:txBody>
          <a:bodyPr rtlCol="0" anchor="ctr"/>
          <a:lstStyle/>
          <a:p/>
        </p:txBody>
      </p:sp>
      <p:sp>
        <p:nvSpPr>
          <p:cNvPr id="6" name="TextBox 5"/>
          <p:cNvSpPr txBox="1"/>
          <p:nvPr/>
        </p:nvSpPr>
        <p:spPr>
          <a:xfrm>
            <a:off x="731520" y="525780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Phổ biến nhất gấp 16 lần ngẫu nhiên; lọc cộng tác chỉ hơn phổ biến nhất 24–28%</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MovieLens 1M, 5.956 người, P@10 và độ phủ danh mục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Hai bài học từ Netflix Prize</a:t>
            </a:r>
          </a:p>
        </p:txBody>
      </p:sp>
      <p:sp>
        <p:nvSpPr>
          <p:cNvPr id="4" name="Rounded Rectangle 3"/>
          <p:cNvSpPr/>
          <p:nvPr/>
        </p:nvSpPr>
        <p:spPr>
          <a:xfrm>
            <a:off x="457200" y="1371600"/>
            <a:ext cx="5500052" cy="32918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822960" y="1600200"/>
            <a:ext cx="4768532" cy="82296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Chỉ số kỹ thuật không phải mục tiêu</a:t>
            </a:r>
          </a:p>
        </p:txBody>
      </p:sp>
      <p:sp>
        <p:nvSpPr>
          <p:cNvPr id="6" name="TextBox 5"/>
          <p:cNvSpPr txBox="1"/>
          <p:nvPr/>
        </p:nvSpPr>
        <p:spPr>
          <a:xfrm>
            <a:off x="822960" y="2468880"/>
            <a:ext cx="4768532" cy="12801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Mô hình thắng giải không được dùng vì phần chính xác tăng thêm không bù được chi phí kỹ thuật để vận hành nó.</a:t>
            </a:r>
          </a:p>
        </p:txBody>
      </p:sp>
      <p:sp>
        <p:nvSpPr>
          <p:cNvPr id="7" name="TextBox 6"/>
          <p:cNvSpPr txBox="1"/>
          <p:nvPr/>
        </p:nvSpPr>
        <p:spPr>
          <a:xfrm>
            <a:off x="822960" y="3886200"/>
            <a:ext cx="4768532" cy="6400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Ý nghĩa thống kê khác ý nghĩa kinh doanh (Bài 7).</a:t>
            </a:r>
          </a:p>
        </p:txBody>
      </p:sp>
      <p:sp>
        <p:nvSpPr>
          <p:cNvPr id="8" name="Rounded Rectangle 7"/>
          <p:cNvSpPr/>
          <p:nvPr/>
        </p:nvSpPr>
        <p:spPr>
          <a:xfrm>
            <a:off x="6231572" y="1371600"/>
            <a:ext cx="5500052" cy="3291840"/>
          </a:xfrm>
          <a:prstGeom prst="roundRect">
            <a:avLst>
              <a:gd name="adj" fmla="val 6000"/>
            </a:avLst>
          </a:prstGeom>
          <a:solidFill>
            <a:srgbClr val="EAF0F8"/>
          </a:solidFill>
          <a:ln>
            <a:noFill/>
          </a:ln>
          <a:effectLst/>
        </p:spPr>
        <p:txBody>
          <a:bodyPr rtlCol="0" anchor="ctr"/>
          <a:lstStyle/>
          <a:p/>
        </p:txBody>
      </p:sp>
      <p:sp>
        <p:nvSpPr>
          <p:cNvPr id="9" name="TextBox 8"/>
          <p:cNvSpPr txBox="1"/>
          <p:nvPr/>
        </p:nvSpPr>
        <p:spPr>
          <a:xfrm>
            <a:off x="6597332" y="1600200"/>
            <a:ext cx="4768532" cy="822960"/>
          </a:xfrm>
          <a:prstGeom prst="rect">
            <a:avLst/>
          </a:prstGeom>
          <a:noFill/>
        </p:spPr>
        <p:txBody>
          <a:bodyPr wrap="square" lIns="0" rIns="0" tIns="0" bIns="0" anchor="t">
            <a:spAutoFit/>
          </a:bodyPr>
          <a:lstStyle/>
          <a:p>
            <a:pPr algn="l">
              <a:lnSpc>
                <a:spcPct val="110000"/>
              </a:lnSpc>
              <a:spcAft>
                <a:spcPts val="0"/>
              </a:spcAft>
            </a:pPr>
            <a:r>
              <a:rPr sz="2200" b="1" i="0">
                <a:solidFill>
                  <a:srgbClr val="1C3A6E"/>
                </a:solidFill>
                <a:latin typeface="Arial"/>
              </a:rPr>
              <a:t>Dữ liệu “ẩn danh” chưa chắc ẩn danh</a:t>
            </a:r>
          </a:p>
        </p:txBody>
      </p:sp>
      <p:sp>
        <p:nvSpPr>
          <p:cNvPr id="10" name="TextBox 9"/>
          <p:cNvSpPr txBox="1"/>
          <p:nvPr/>
        </p:nvSpPr>
        <p:spPr>
          <a:xfrm>
            <a:off x="6597332" y="2468880"/>
            <a:ext cx="4768532" cy="128016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Narayanan &amp; Shmatikov (2008) nhận diện lại một số thành viên bằng cách đối chiếu với điểm họ công khai trên IMDb.</a:t>
            </a:r>
          </a:p>
        </p:txBody>
      </p:sp>
      <p:sp>
        <p:nvSpPr>
          <p:cNvPr id="11" name="TextBox 10"/>
          <p:cNvSpPr txBox="1"/>
          <p:nvPr/>
        </p:nvSpPr>
        <p:spPr>
          <a:xfrm>
            <a:off x="6597332" y="3886200"/>
            <a:ext cx="4768532" cy="640080"/>
          </a:xfrm>
          <a:prstGeom prst="rect">
            <a:avLst/>
          </a:prstGeom>
          <a:noFill/>
        </p:spPr>
        <p:txBody>
          <a:bodyPr wrap="square" lIns="0" rIns="0" tIns="0" bIns="0" anchor="t">
            <a:spAutoFit/>
          </a:bodyPr>
          <a:lstStyle/>
          <a:p>
            <a:pPr algn="l">
              <a:lnSpc>
                <a:spcPct val="110000"/>
              </a:lnSpc>
              <a:spcAft>
                <a:spcPts val="0"/>
              </a:spcAft>
            </a:pPr>
            <a:r>
              <a:rPr sz="1600" b="1" i="0">
                <a:solidFill>
                  <a:srgbClr val="B03A5B"/>
                </a:solidFill>
                <a:latin typeface="Arial"/>
              </a:rPr>
              <a:t>Dùng dữ liệu cá nhân đúng mục đích (Nghị định 13/2023).</a:t>
            </a:r>
          </a:p>
        </p:txBody>
      </p:sp>
      <p:sp>
        <p:nvSpPr>
          <p:cNvPr id="12" name="Rounded Rectangle 11"/>
          <p:cNvSpPr/>
          <p:nvPr/>
        </p:nvSpPr>
        <p:spPr>
          <a:xfrm>
            <a:off x="457200" y="498348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498348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Netflix đánh giá thuật toán bằng thử nghiệm A/B, với chỉ số chính là tỷ lệ giữ chân</a:t>
            </a:r>
          </a:p>
        </p:txBody>
      </p:sp>
      <p:sp>
        <p:nvSpPr>
          <p:cNvPr id="14" name="TextBox 13"/>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Netflix Tech Blog (2012); Narayanan &amp; Shmatikov, IEEE S&amp;P 2008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5</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Sản phẩm mới, người dùng mới thì sao?</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Khởi động lạnh, và vì sao hệ thống thực tế luôn là hệ lai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Ngày đầu ra mắt, sản phẩm mới chưa có một lượt tương tác</a:t>
            </a:r>
          </a:p>
        </p:txBody>
      </p:sp>
      <p:sp>
        <p:nvSpPr>
          <p:cNvPr id="4" name="TextBox 3"/>
          <p:cNvSpPr txBox="1"/>
          <p:nvPr/>
        </p:nvSpPr>
        <p:spPr>
          <a:xfrm>
            <a:off x="457200" y="1325880"/>
            <a:ext cx="11274425" cy="54864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Netflix thêm phim mới liên tục, kể cả phim tự sản xuất. Sàn TMĐT nhập hàng mới mỗi ngày.</a:t>
            </a:r>
          </a:p>
        </p:txBody>
      </p:sp>
      <p:graphicFrame>
        <p:nvGraphicFramePr>
          <p:cNvPr id="5" name="Table 4"/>
          <p:cNvGraphicFramePr>
            <a:graphicFrameLocks noGrp="1"/>
          </p:cNvGraphicFramePr>
          <p:nvPr/>
        </p:nvGraphicFramePr>
        <p:xfrm>
          <a:off x="457200" y="2057400"/>
          <a:ext cx="11274425" cy="1920240"/>
        </p:xfrm>
        <a:graphic>
          <a:graphicData uri="http://schemas.openxmlformats.org/drawingml/2006/table">
            <a:tbl>
              <a:tblPr firstRow="1" bandRow="1">
                <a:tableStyleId>{5940675A-B579-460E-94D1-54222C63F5DA}</a:tableStyleId>
              </a:tblPr>
              <a:tblGrid>
                <a:gridCol w="2743200"/>
                <a:gridCol w="4114800"/>
                <a:gridCol w="4416425"/>
              </a:tblGrid>
              <a:tr h="548640">
                <a:tc>
                  <a:txBody>
                    <a:bodyPr wrap="square"/>
                    <a:lstStyle/>
                    <a:p>
                      <a:r>
                        <a:rPr sz="1800" b="1">
                          <a:solidFill>
                            <a:srgbClr val="FFFFFF"/>
                          </a:solidFill>
                          <a:latin typeface="Arial"/>
                        </a:rPr>
                        <a:t>Phương pháp</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Hỏi gì</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800" b="1">
                          <a:solidFill>
                            <a:srgbClr val="FFFFFF"/>
                          </a:solidFill>
                          <a:latin typeface="Arial"/>
                        </a:rPr>
                        <a:t>Với sản phẩm mới</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685800">
                <a:tc>
                  <a:txBody>
                    <a:bodyPr wrap="square"/>
                    <a:lstStyle/>
                    <a:p>
                      <a:r>
                        <a:rPr sz="1800" b="1">
                          <a:solidFill>
                            <a:srgbClr val="1C3A6E"/>
                          </a:solidFill>
                          <a:latin typeface="Arial"/>
                        </a:rPr>
                        <a:t>Lọc cộng tác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Ai đã dùng sản phẩm này?</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800" b="0">
                          <a:solidFill>
                            <a:srgbClr val="26303D"/>
                          </a:solidFill>
                          <a:latin typeface="Arial"/>
                        </a:rPr>
                        <a:t>Chưa có ai, nên không gợi ý được</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85800">
                <a:tc>
                  <a:txBody>
                    <a:bodyPr wrap="square"/>
                    <a:lstStyle/>
                    <a:p>
                      <a:r>
                        <a:rPr sz="1800" b="1">
                          <a:solidFill>
                            <a:srgbClr val="1C3A6E"/>
                          </a:solidFill>
                          <a:latin typeface="Arial"/>
                        </a:rPr>
                        <a:t>Lọc theo nội dung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Sản phẩm có đặc điểm gì?</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800" b="0">
                          <a:solidFill>
                            <a:srgbClr val="26303D"/>
                          </a:solidFill>
                          <a:latin typeface="Arial"/>
                        </a:rPr>
                        <a:t>Có ngay từ mô tả, nên gợi ý được</a:t>
                      </a:r>
                    </a:p>
                  </a:txBody>
                  <a:tcPr marL="109728" marR="109728" marT="54864" marB="54864" anchor="ctr">
                    <a:lnL w="0">
                      <a:noFill/>
                    </a:lnL>
                    <a:lnR w="0">
                      <a:noFill/>
                    </a:lnR>
                    <a:lnT w="9525">
                      <a:solidFill>
                        <a:srgbClr val="C9D3E1"/>
                      </a:solidFill>
                    </a:lnT>
                    <a:lnB w="9525">
                      <a:solidFill>
                        <a:srgbClr val="C9D3E1"/>
                      </a:solidFill>
                    </a:lnB>
                    <a:solidFill>
                      <a:srgbClr val="FFF6D6"/>
                    </a:solidFill>
                  </a:tcPr>
                </a:tc>
              </a:tr>
            </a:tbl>
          </a:graphicData>
        </a:graphic>
      </p:graphicFrame>
      <p:sp>
        <p:nvSpPr>
          <p:cNvPr id="6" name="Rounded Rectangle 5"/>
          <p:cNvSpPr/>
          <p:nvPr/>
        </p:nvSpPr>
        <p:spPr>
          <a:xfrm>
            <a:off x="457200" y="4572000"/>
            <a:ext cx="11274425" cy="777240"/>
          </a:xfrm>
          <a:prstGeom prst="roundRect">
            <a:avLst>
              <a:gd name="adj" fmla="val 8000"/>
            </a:avLst>
          </a:prstGeom>
          <a:solidFill>
            <a:srgbClr val="FFF6D6"/>
          </a:solidFill>
          <a:ln>
            <a:noFill/>
          </a:ln>
          <a:effectLst/>
        </p:spPr>
        <p:txBody>
          <a:bodyPr rtlCol="0" anchor="ctr"/>
          <a:lstStyle/>
          <a:p/>
        </p:txBody>
      </p:sp>
      <p:sp>
        <p:nvSpPr>
          <p:cNvPr id="7" name="TextBox 6"/>
          <p:cNvSpPr txBox="1"/>
          <p:nvPr/>
        </p:nvSpPr>
        <p:spPr>
          <a:xfrm>
            <a:off x="731520" y="4572000"/>
            <a:ext cx="10725785" cy="77724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5. </a:t>
            </a:r>
            <a:r>
              <a:rPr sz="1800" b="0" i="0">
                <a:solidFill>
                  <a:srgbClr val="26303D"/>
                </a:solidFill>
                <a:latin typeface="Arial"/>
              </a:rPr>
              <a:t>Còn một người vừa đăng ký, chưa xem gì thì sao? Bạn sẽ hiển thị gì cho họ?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Khởi động lạnh được giải bằng hệ lai</a:t>
            </a:r>
          </a:p>
        </p:txBody>
      </p:sp>
      <p:sp>
        <p:nvSpPr>
          <p:cNvPr id="4" name="TextBox 3"/>
          <p:cNvSpPr txBox="1"/>
          <p:nvPr/>
        </p:nvSpPr>
        <p:spPr>
          <a:xfrm>
            <a:off x="457200" y="1325880"/>
            <a:ext cx="11274425" cy="457200"/>
          </a:xfrm>
          <a:prstGeom prst="rect">
            <a:avLst/>
          </a:prstGeom>
          <a:noFill/>
        </p:spPr>
        <p:txBody>
          <a:bodyPr wrap="square" lIns="0" rIns="0" tIns="0" bIns="0" anchor="t">
            <a:spAutoFit/>
          </a:bodyPr>
          <a:lstStyle/>
          <a:p>
            <a:pPr algn="l">
              <a:lnSpc>
                <a:spcPct val="110000"/>
              </a:lnSpc>
              <a:spcAft>
                <a:spcPts val="0"/>
              </a:spcAft>
            </a:pPr>
            <a:r>
              <a:rPr sz="1800" b="0" i="0">
                <a:solidFill>
                  <a:srgbClr val="26303D"/>
                </a:solidFill>
                <a:latin typeface="Arial"/>
              </a:rPr>
              <a:t>Thử trên MovieLens: giả lập 300 phim mới. Bao nhiêu phần trăm ô gợi ý dành cho phim mới?</a:t>
            </a:r>
          </a:p>
        </p:txBody>
      </p:sp>
      <p:sp>
        <p:nvSpPr>
          <p:cNvPr id="5" name="TextBox 4"/>
          <p:cNvSpPr txBox="1"/>
          <p:nvPr/>
        </p:nvSpPr>
        <p:spPr>
          <a:xfrm>
            <a:off x="457200" y="2011680"/>
            <a:ext cx="2560320" cy="59436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Lọc cộng tác</a:t>
            </a:r>
          </a:p>
        </p:txBody>
      </p:sp>
      <p:sp>
        <p:nvSpPr>
          <p:cNvPr id="6" name="Rectangle 5"/>
          <p:cNvSpPr/>
          <p:nvPr/>
        </p:nvSpPr>
        <p:spPr>
          <a:xfrm>
            <a:off x="3200400" y="2011680"/>
            <a:ext cx="36576" cy="594360"/>
          </a:xfrm>
          <a:prstGeom prst="rect">
            <a:avLst/>
          </a:prstGeom>
          <a:solidFill>
            <a:srgbClr val="8C9AAD"/>
          </a:solidFill>
          <a:ln>
            <a:noFill/>
          </a:ln>
          <a:effectLst/>
        </p:spPr>
        <p:txBody>
          <a:bodyPr rtlCol="0" anchor="ctr"/>
          <a:lstStyle/>
          <a:p/>
        </p:txBody>
      </p:sp>
      <p:sp>
        <p:nvSpPr>
          <p:cNvPr id="7" name="TextBox 6"/>
          <p:cNvSpPr txBox="1"/>
          <p:nvPr/>
        </p:nvSpPr>
        <p:spPr>
          <a:xfrm>
            <a:off x="3374136" y="2011680"/>
            <a:ext cx="2286000" cy="594360"/>
          </a:xfrm>
          <a:prstGeom prst="rect">
            <a:avLst/>
          </a:prstGeom>
          <a:noFill/>
        </p:spPr>
        <p:txBody>
          <a:bodyPr wrap="square" lIns="0" rIns="0" tIns="0" bIns="0" anchor="ctr">
            <a:spAutoFit/>
          </a:bodyPr>
          <a:lstStyle/>
          <a:p>
            <a:pPr algn="l">
              <a:lnSpc>
                <a:spcPct val="110000"/>
              </a:lnSpc>
              <a:spcAft>
                <a:spcPts val="0"/>
              </a:spcAft>
            </a:pPr>
            <a:r>
              <a:rPr sz="2800" b="1" i="0">
                <a:solidFill>
                  <a:srgbClr val="8C9AAD"/>
                </a:solidFill>
                <a:latin typeface="Arial"/>
              </a:rPr>
              <a:t>≈ 0%</a:t>
            </a:r>
          </a:p>
        </p:txBody>
      </p:sp>
      <p:sp>
        <p:nvSpPr>
          <p:cNvPr id="8" name="TextBox 7"/>
          <p:cNvSpPr txBox="1"/>
          <p:nvPr/>
        </p:nvSpPr>
        <p:spPr>
          <a:xfrm>
            <a:off x="457200" y="2788920"/>
            <a:ext cx="2560320" cy="594360"/>
          </a:xfrm>
          <a:prstGeom prst="rect">
            <a:avLst/>
          </a:prstGeom>
          <a:noFill/>
        </p:spPr>
        <p:txBody>
          <a:bodyPr wrap="square" lIns="0" rIns="0" tIns="0" bIns="0" anchor="ctr">
            <a:spAutoFit/>
          </a:bodyPr>
          <a:lstStyle/>
          <a:p>
            <a:pPr algn="r">
              <a:lnSpc>
                <a:spcPct val="110000"/>
              </a:lnSpc>
              <a:spcAft>
                <a:spcPts val="0"/>
              </a:spcAft>
            </a:pPr>
            <a:r>
              <a:rPr sz="1600" b="0" i="0">
                <a:solidFill>
                  <a:srgbClr val="26303D"/>
                </a:solidFill>
                <a:latin typeface="Arial"/>
              </a:rPr>
              <a:t>Lọc theo nội dung</a:t>
            </a:r>
          </a:p>
        </p:txBody>
      </p:sp>
      <p:sp>
        <p:nvSpPr>
          <p:cNvPr id="9" name="Rectangle 8"/>
          <p:cNvSpPr/>
          <p:nvPr/>
        </p:nvSpPr>
        <p:spPr>
          <a:xfrm>
            <a:off x="3200400" y="2788920"/>
            <a:ext cx="5943600" cy="594360"/>
          </a:xfrm>
          <a:prstGeom prst="rect">
            <a:avLst/>
          </a:prstGeom>
          <a:solidFill>
            <a:srgbClr val="1C3A6E"/>
          </a:solidFill>
          <a:ln>
            <a:noFill/>
          </a:ln>
          <a:effectLst/>
        </p:spPr>
        <p:txBody>
          <a:bodyPr rtlCol="0" anchor="ctr"/>
          <a:lstStyle/>
          <a:p/>
        </p:txBody>
      </p:sp>
      <p:sp>
        <p:nvSpPr>
          <p:cNvPr id="10" name="TextBox 9"/>
          <p:cNvSpPr txBox="1"/>
          <p:nvPr/>
        </p:nvSpPr>
        <p:spPr>
          <a:xfrm>
            <a:off x="9281160" y="2788920"/>
            <a:ext cx="2286000" cy="59436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9%</a:t>
            </a:r>
          </a:p>
        </p:txBody>
      </p:sp>
      <p:sp>
        <p:nvSpPr>
          <p:cNvPr id="11" name="TextBox 10"/>
          <p:cNvSpPr txBox="1"/>
          <p:nvPr/>
        </p:nvSpPr>
        <p:spPr>
          <a:xfrm>
            <a:off x="457200" y="3794760"/>
            <a:ext cx="11274425" cy="914400"/>
          </a:xfrm>
          <a:prstGeom prst="rect">
            <a:avLst/>
          </a:prstGeom>
          <a:noFill/>
        </p:spPr>
        <p:txBody>
          <a:bodyPr wrap="square" lIns="0" rIns="0" tIns="0" bIns="0" anchor="t">
            <a:spAutoFit/>
          </a:bodyPr>
          <a:lstStyle/>
          <a:p>
            <a:pPr algn="l">
              <a:lnSpc>
                <a:spcPct val="110000"/>
              </a:lnSpc>
              <a:spcAft>
                <a:spcPts val="0"/>
              </a:spcAft>
            </a:pPr>
            <a:r>
              <a:rPr sz="1800" b="1" i="0">
                <a:solidFill>
                  <a:srgbClr val="1C3A6E"/>
                </a:solidFill>
                <a:latin typeface="Arial"/>
              </a:rPr>
              <a:t>Hệ lai: </a:t>
            </a:r>
            <a:r>
              <a:rPr sz="1800" b="0" i="0">
                <a:solidFill>
                  <a:srgbClr val="26303D"/>
                </a:solidFill>
                <a:latin typeface="Arial"/>
              </a:rPr>
              <a:t>trộn điểm của hai cách, hoặc dùng nội dung cho sản phẩm mới và chuyển sang cộng tác khi đã đủ dữ liệu.</a:t>
            </a:r>
          </a:p>
        </p:txBody>
      </p:sp>
      <p:sp>
        <p:nvSpPr>
          <p:cNvPr id="12" name="Rounded Rectangle 11"/>
          <p:cNvSpPr/>
          <p:nvPr/>
        </p:nvSpPr>
        <p:spPr>
          <a:xfrm>
            <a:off x="457200" y="4983480"/>
            <a:ext cx="11274425" cy="731520"/>
          </a:xfrm>
          <a:prstGeom prst="roundRect">
            <a:avLst>
              <a:gd name="adj" fmla="val 8000"/>
            </a:avLst>
          </a:prstGeom>
          <a:solidFill>
            <a:srgbClr val="1C3A6E"/>
          </a:solidFill>
          <a:ln>
            <a:noFill/>
          </a:ln>
          <a:effectLst/>
        </p:spPr>
        <p:txBody>
          <a:bodyPr rtlCol="0" anchor="ctr"/>
          <a:lstStyle/>
          <a:p/>
        </p:txBody>
      </p:sp>
      <p:sp>
        <p:nvSpPr>
          <p:cNvPr id="13" name="TextBox 12"/>
          <p:cNvSpPr txBox="1"/>
          <p:nvPr/>
        </p:nvSpPr>
        <p:spPr>
          <a:xfrm>
            <a:off x="731520" y="4983480"/>
            <a:ext cx="10725785" cy="731520"/>
          </a:xfrm>
          <a:prstGeom prst="rect">
            <a:avLst/>
          </a:prstGeom>
          <a:noFill/>
        </p:spPr>
        <p:txBody>
          <a:bodyPr wrap="square" lIns="0" rIns="0" tIns="0" bIns="0" anchor="ctr">
            <a:spAutoFit/>
          </a:bodyPr>
          <a:lstStyle/>
          <a:p>
            <a:pPr algn="l">
              <a:lnSpc>
                <a:spcPct val="110000"/>
              </a:lnSpc>
              <a:spcAft>
                <a:spcPts val="0"/>
              </a:spcAft>
            </a:pPr>
            <a:r>
              <a:rPr sz="1800" b="1" i="0">
                <a:solidFill>
                  <a:srgbClr val="FFFFFF"/>
                </a:solidFill>
                <a:latin typeface="Arial"/>
              </a:rPr>
              <a:t>Trang chủ Netflix là một hệ lai nhiều tầng: mỗi hàng một thuật toán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914400" y="2011680"/>
            <a:ext cx="1463040" cy="1828800"/>
          </a:xfrm>
          <a:prstGeom prst="rect">
            <a:avLst/>
          </a:prstGeom>
          <a:noFill/>
        </p:spPr>
        <p:txBody>
          <a:bodyPr wrap="square" lIns="0" rIns="0" tIns="0" bIns="0" anchor="ctr">
            <a:spAutoFit/>
          </a:bodyPr>
          <a:lstStyle/>
          <a:p>
            <a:pPr algn="l">
              <a:lnSpc>
                <a:spcPct val="110000"/>
              </a:lnSpc>
              <a:spcAft>
                <a:spcPts val="0"/>
              </a:spcAft>
            </a:pPr>
            <a:r>
              <a:rPr sz="12000" b="1" i="0">
                <a:solidFill>
                  <a:srgbClr val="F5C518"/>
                </a:solidFill>
                <a:latin typeface="Arial"/>
              </a:rPr>
              <a:t>6</a:t>
            </a:r>
          </a:p>
        </p:txBody>
      </p:sp>
      <p:sp>
        <p:nvSpPr>
          <p:cNvPr id="4" name="TextBox 3"/>
          <p:cNvSpPr txBox="1"/>
          <p:nvPr/>
        </p:nvSpPr>
        <p:spPr>
          <a:xfrm>
            <a:off x="2468880" y="2240280"/>
            <a:ext cx="8778240" cy="914400"/>
          </a:xfrm>
          <a:prstGeom prst="rect">
            <a:avLst/>
          </a:prstGeom>
          <a:noFill/>
        </p:spPr>
        <p:txBody>
          <a:bodyPr wrap="square" lIns="0" rIns="0" tIns="0" bIns="0" anchor="b">
            <a:spAutoFit/>
          </a:bodyPr>
          <a:lstStyle/>
          <a:p>
            <a:pPr algn="l">
              <a:lnSpc>
                <a:spcPct val="110000"/>
              </a:lnSpc>
              <a:spcAft>
                <a:spcPts val="0"/>
              </a:spcAft>
            </a:pPr>
            <a:r>
              <a:rPr sz="3600" b="1" i="0">
                <a:solidFill>
                  <a:srgbClr val="FFFFFF"/>
                </a:solidFill>
                <a:latin typeface="Arial"/>
              </a:rPr>
              <a:t>Giá trị kinh doanh đo bằng gì?</a:t>
            </a:r>
          </a:p>
        </p:txBody>
      </p:sp>
      <p:sp>
        <p:nvSpPr>
          <p:cNvPr id="5" name="TextBox 4"/>
          <p:cNvSpPr txBox="1"/>
          <p:nvPr/>
        </p:nvSpPr>
        <p:spPr>
          <a:xfrm>
            <a:off x="2468880" y="3246120"/>
            <a:ext cx="8778240" cy="731520"/>
          </a:xfrm>
          <a:prstGeom prst="rect">
            <a:avLst/>
          </a:prstGeom>
          <a:noFill/>
        </p:spPr>
        <p:txBody>
          <a:bodyPr wrap="square" lIns="0" rIns="0" tIns="0" bIns="0" anchor="t">
            <a:spAutoFit/>
          </a:bodyPr>
          <a:lstStyle/>
          <a:p>
            <a:pPr algn="l">
              <a:lnSpc>
                <a:spcPct val="110000"/>
              </a:lnSpc>
              <a:spcAft>
                <a:spcPts val="0"/>
              </a:spcAft>
            </a:pPr>
            <a:r>
              <a:rPr sz="1800" b="0" i="0">
                <a:solidFill>
                  <a:srgbClr val="C9D6EA"/>
                </a:solidFill>
                <a:latin typeface="Arial"/>
              </a:rPr>
              <a:t>Từ độ chính xác đến tiền: giữ chân, doanh thu, lãi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Doanh nghiệp đo hệ gợi ý bằng tác động lên khách hàng</a:t>
            </a:r>
          </a:p>
        </p:txBody>
      </p:sp>
      <p:graphicFrame>
        <p:nvGraphicFramePr>
          <p:cNvPr id="4" name="Table 3"/>
          <p:cNvGraphicFramePr>
            <a:graphicFrameLocks noGrp="1"/>
          </p:cNvGraphicFramePr>
          <p:nvPr/>
        </p:nvGraphicFramePr>
        <p:xfrm>
          <a:off x="457200" y="1371600"/>
          <a:ext cx="11274425" cy="3182112"/>
        </p:xfrm>
        <a:graphic>
          <a:graphicData uri="http://schemas.openxmlformats.org/drawingml/2006/table">
            <a:tbl>
              <a:tblPr firstRow="1" bandRow="1">
                <a:tableStyleId>{5940675A-B579-460E-94D1-54222C63F5DA}</a:tableStyleId>
              </a:tblPr>
              <a:tblGrid>
                <a:gridCol w="3108960"/>
                <a:gridCol w="2194560"/>
                <a:gridCol w="5970905"/>
              </a:tblGrid>
              <a:tr h="548640">
                <a:tc>
                  <a:txBody>
                    <a:bodyPr wrap="square"/>
                    <a:lstStyle/>
                    <a:p>
                      <a:r>
                        <a:rPr sz="1700" b="1">
                          <a:solidFill>
                            <a:srgbClr val="FFFFFF"/>
                          </a:solidFill>
                          <a:latin typeface="Arial"/>
                        </a:rPr>
                        <a:t>Netflix công bố</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700" b="1">
                          <a:solidFill>
                            <a:srgbClr val="FFFFFF"/>
                          </a:solidFill>
                          <a:latin typeface="Arial"/>
                        </a:rPr>
                        <a:t>Con số</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c>
                  <a:txBody>
                    <a:bodyPr wrap="square"/>
                    <a:lstStyle/>
                    <a:p>
                      <a:r>
                        <a:rPr sz="1700" b="1">
                          <a:solidFill>
                            <a:srgbClr val="FFFFFF"/>
                          </a:solidFill>
                          <a:latin typeface="Arial"/>
                        </a:rPr>
                        <a:t>Ý nghĩa</a:t>
                      </a:r>
                    </a:p>
                  </a:txBody>
                  <a:tcPr marL="109728" marR="109728" marT="54864" marB="54864" anchor="ctr">
                    <a:lnL w="0">
                      <a:noFill/>
                    </a:lnL>
                    <a:lnR w="0">
                      <a:noFill/>
                    </a:lnR>
                    <a:lnT w="9525">
                      <a:solidFill>
                        <a:srgbClr val="C9D3E1"/>
                      </a:solidFill>
                    </a:lnT>
                    <a:lnB w="9525">
                      <a:solidFill>
                        <a:srgbClr val="C9D3E1"/>
                      </a:solidFill>
                    </a:lnB>
                    <a:solidFill>
                      <a:srgbClr val="1C3A6E"/>
                    </a:solidFill>
                  </a:tcPr>
                </a:tc>
              </a:tr>
              <a:tr h="658368">
                <a:tc>
                  <a:txBody>
                    <a:bodyPr wrap="square"/>
                    <a:lstStyle/>
                    <a:p>
                      <a:r>
                        <a:rPr sz="1700" b="1">
                          <a:solidFill>
                            <a:srgbClr val="1C3A6E"/>
                          </a:solidFill>
                          <a:latin typeface="Arial"/>
                        </a:rPr>
                        <a:t>Giờ xem đến từ gợi ý</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80%</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phần lớn nhu cầu được tạo ra trên màn hình, không phải từ tìm kiếm</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58368">
                <a:tc>
                  <a:txBody>
                    <a:bodyPr wrap="square"/>
                    <a:lstStyle/>
                    <a:p>
                      <a:r>
                        <a:rPr sz="1700" b="1">
                          <a:solidFill>
                            <a:srgbClr val="1C3A6E"/>
                          </a:solidFill>
                          <a:latin typeface="Arial"/>
                        </a:rPr>
                        <a:t>Số phim được xem đáng kể</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gấp khoảng 4</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cá nhân hoá kéo người xem ra khỏi nhóm phim đầu bảng</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r h="658368">
                <a:tc>
                  <a:txBody>
                    <a:bodyPr wrap="square"/>
                    <a:lstStyle/>
                    <a:p>
                      <a:r>
                        <a:rPr sz="1700" b="1">
                          <a:solidFill>
                            <a:srgbClr val="1C3A6E"/>
                          </a:solidFill>
                          <a:latin typeface="Arial"/>
                        </a:rPr>
                        <a:t>Tỷ lệ huỷ thuê bao</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giảm vài điểm %</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c>
                  <a:txBody>
                    <a:bodyPr wrap="square"/>
                    <a:lstStyle/>
                    <a:p>
                      <a:r>
                        <a:rPr sz="1700" b="0">
                          <a:solidFill>
                            <a:srgbClr val="26303D"/>
                          </a:solidFill>
                          <a:latin typeface="Arial"/>
                        </a:rPr>
                        <a:t>chỉ số chính mà mọi thử nghiệm A/B nhắm tới</a:t>
                      </a:r>
                    </a:p>
                  </a:txBody>
                  <a:tcPr marL="109728" marR="109728" marT="54864" marB="54864" anchor="ctr">
                    <a:lnL w="0">
                      <a:noFill/>
                    </a:lnL>
                    <a:lnR w="0">
                      <a:noFill/>
                    </a:lnR>
                    <a:lnT w="9525">
                      <a:solidFill>
                        <a:srgbClr val="C9D3E1"/>
                      </a:solidFill>
                    </a:lnT>
                    <a:lnB w="9525">
                      <a:solidFill>
                        <a:srgbClr val="C9D3E1"/>
                      </a:solidFill>
                    </a:lnB>
                    <a:solidFill>
                      <a:srgbClr val="FFFFFF"/>
                    </a:solidFill>
                  </a:tcPr>
                </a:tc>
              </a:tr>
              <a:tr h="658368">
                <a:tc>
                  <a:txBody>
                    <a:bodyPr wrap="square"/>
                    <a:lstStyle/>
                    <a:p>
                      <a:r>
                        <a:rPr sz="1700" b="1">
                          <a:solidFill>
                            <a:srgbClr val="1C3A6E"/>
                          </a:solidFill>
                          <a:latin typeface="Arial"/>
                        </a:rPr>
                        <a:t>Giá trị ước tính</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&gt; 1 tỷ USD/năm</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c>
                  <a:txBody>
                    <a:bodyPr wrap="square"/>
                    <a:lstStyle/>
                    <a:p>
                      <a:r>
                        <a:rPr sz="1700" b="0">
                          <a:solidFill>
                            <a:srgbClr val="26303D"/>
                          </a:solidFill>
                          <a:latin typeface="Arial"/>
                        </a:rPr>
                        <a:t>chi phí giữ chân mà Netflix tránh được</a:t>
                      </a:r>
                    </a:p>
                  </a:txBody>
                  <a:tcPr marL="109728" marR="109728" marT="54864" marB="54864" anchor="ctr">
                    <a:lnL w="0">
                      <a:noFill/>
                    </a:lnL>
                    <a:lnR w="0">
                      <a:noFill/>
                    </a:lnR>
                    <a:lnT w="9525">
                      <a:solidFill>
                        <a:srgbClr val="C9D3E1"/>
                      </a:solidFill>
                    </a:lnT>
                    <a:lnB w="9525">
                      <a:solidFill>
                        <a:srgbClr val="C9D3E1"/>
                      </a:solidFill>
                    </a:lnB>
                    <a:solidFill>
                      <a:srgbClr val="F4F7FB"/>
                    </a:solidFill>
                  </a:tcPr>
                </a:tc>
              </a:tr>
            </a:tbl>
          </a:graphicData>
        </a:graphic>
      </p:graphicFrame>
      <p:sp>
        <p:nvSpPr>
          <p:cNvPr id="5" name="Rounded Rectangle 4"/>
          <p:cNvSpPr/>
          <p:nvPr/>
        </p:nvSpPr>
        <p:spPr>
          <a:xfrm>
            <a:off x="457200" y="4983480"/>
            <a:ext cx="11274425" cy="1051560"/>
          </a:xfrm>
          <a:prstGeom prst="roundRect">
            <a:avLst>
              <a:gd name="adj" fmla="val 8000"/>
            </a:avLst>
          </a:prstGeom>
          <a:solidFill>
            <a:srgbClr val="FFF6D6"/>
          </a:solidFill>
          <a:ln>
            <a:noFill/>
          </a:ln>
          <a:effectLst/>
        </p:spPr>
        <p:txBody>
          <a:bodyPr rtlCol="0" anchor="ctr"/>
          <a:lstStyle/>
          <a:p/>
        </p:txBody>
      </p:sp>
      <p:sp>
        <p:nvSpPr>
          <p:cNvPr id="6" name="TextBox 5"/>
          <p:cNvSpPr txBox="1"/>
          <p:nvPr/>
        </p:nvSpPr>
        <p:spPr>
          <a:xfrm>
            <a:off x="731520" y="4983480"/>
            <a:ext cx="10725785" cy="1051560"/>
          </a:xfrm>
          <a:prstGeom prst="rect">
            <a:avLst/>
          </a:prstGeom>
          <a:noFill/>
        </p:spPr>
        <p:txBody>
          <a:bodyPr wrap="square" lIns="0" rIns="0" tIns="0" bIns="0" anchor="ctr">
            <a:spAutoFit/>
          </a:bodyPr>
          <a:lstStyle/>
          <a:p>
            <a:pPr algn="l">
              <a:lnSpc>
                <a:spcPct val="110000"/>
              </a:lnSpc>
              <a:spcAft>
                <a:spcPts val="0"/>
              </a:spcAft>
            </a:pPr>
            <a:r>
              <a:rPr sz="1800" b="1" i="0">
                <a:solidFill>
                  <a:srgbClr val="1C3A6E"/>
                </a:solidFill>
                <a:latin typeface="Arial"/>
              </a:rPr>
              <a:t>Câu hỏi 6. </a:t>
            </a:r>
            <a:r>
              <a:rPr sz="1800" b="0" i="0">
                <a:solidFill>
                  <a:srgbClr val="26303D"/>
                </a:solidFill>
                <a:latin typeface="Arial"/>
              </a:rPr>
              <a:t>Vì sao chỉ số chính là giữ chân chứ không phải độ chính xác? Nếu thuật toán mới làm thời gian xem tăng nhưng chỉ đẩy vài phim nổi tiếng, cần nhìn thêm chỉ số nào?</a:t>
            </a:r>
          </a:p>
        </p:txBody>
      </p:sp>
      <p:sp>
        <p:nvSpPr>
          <p:cNvPr id="7" name="TextBox 6"/>
          <p:cNvSpPr txBox="1"/>
          <p:nvPr/>
        </p:nvSpPr>
        <p:spPr>
          <a:xfrm>
            <a:off x="5852160" y="6309360"/>
            <a:ext cx="5879592" cy="274320"/>
          </a:xfrm>
          <a:prstGeom prst="rect">
            <a:avLst/>
          </a:prstGeom>
          <a:noFill/>
        </p:spPr>
        <p:txBody>
          <a:bodyPr wrap="square" lIns="0" rIns="0" tIns="0" bIns="0" anchor="b">
            <a:spAutoFit/>
          </a:bodyPr>
          <a:lstStyle/>
          <a:p>
            <a:pPr algn="r">
              <a:lnSpc>
                <a:spcPct val="110000"/>
              </a:lnSpc>
              <a:spcAft>
                <a:spcPts val="0"/>
              </a:spcAft>
            </a:pPr>
            <a:r>
              <a:rPr sz="1100" b="0" i="0">
                <a:solidFill>
                  <a:srgbClr val="5F6B7A"/>
                </a:solidFill>
                <a:latin typeface="Arial"/>
              </a:rPr>
              <a:t>Gomez-Uribe &amp; Hunt (2015), số liệu do Netflix tự công bố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Hệ gợi ý tự tạo ra dữ liệu huấn luyện của chính nó</a:t>
            </a:r>
          </a:p>
        </p:txBody>
      </p:sp>
      <p:pic>
        <p:nvPicPr>
          <p:cNvPr id="4" name="Picture 3" descr="image24.png"/>
          <p:cNvPicPr>
            <a:picLocks noChangeAspect="1"/>
          </p:cNvPicPr>
          <p:nvPr/>
        </p:nvPicPr>
        <p:blipFill>
          <a:blip r:embed="rId3"/>
          <a:stretch>
            <a:fillRect/>
          </a:stretch>
        </p:blipFill>
        <p:spPr>
          <a:xfrm>
            <a:off x="457200" y="1371600"/>
            <a:ext cx="6313516" cy="4480560"/>
          </a:xfrm>
          <a:prstGeom prst="rect">
            <a:avLst/>
          </a:prstGeom>
        </p:spPr>
      </p:pic>
      <p:sp>
        <p:nvSpPr>
          <p:cNvPr id="5" name="TextBox 4"/>
          <p:cNvSpPr txBox="1"/>
          <p:nvPr/>
        </p:nvSpPr>
        <p:spPr>
          <a:xfrm>
            <a:off x="6675120" y="137160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Vòng phản hồi</a:t>
            </a:r>
          </a:p>
        </p:txBody>
      </p:sp>
      <p:sp>
        <p:nvSpPr>
          <p:cNvPr id="6" name="TextBox 5"/>
          <p:cNvSpPr txBox="1"/>
          <p:nvPr/>
        </p:nvSpPr>
        <p:spPr>
          <a:xfrm>
            <a:off x="6675120" y="175564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sản phẩm được gợi ý nhiều thì được dùng nhiều, rồi lại được gợi ý nhiều hơn</a:t>
            </a:r>
          </a:p>
        </p:txBody>
      </p:sp>
      <p:sp>
        <p:nvSpPr>
          <p:cNvPr id="7" name="TextBox 6"/>
          <p:cNvSpPr txBox="1"/>
          <p:nvPr/>
        </p:nvSpPr>
        <p:spPr>
          <a:xfrm>
            <a:off x="6675120" y="256032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Phá vòng</a:t>
            </a:r>
          </a:p>
        </p:txBody>
      </p:sp>
      <p:sp>
        <p:nvSpPr>
          <p:cNvPr id="8" name="TextBox 7"/>
          <p:cNvSpPr txBox="1"/>
          <p:nvPr/>
        </p:nvSpPr>
        <p:spPr>
          <a:xfrm>
            <a:off x="6675120" y="294436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theo dõi độ phủ; dành một số ô để thăm dò sản phẩm ít được thấy</a:t>
            </a:r>
          </a:p>
        </p:txBody>
      </p:sp>
      <p:sp>
        <p:nvSpPr>
          <p:cNvPr id="9" name="TextBox 8"/>
          <p:cNvSpPr txBox="1"/>
          <p:nvPr/>
        </p:nvSpPr>
        <p:spPr>
          <a:xfrm>
            <a:off x="6675120" y="374904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Quyết định bằng A/B test</a:t>
            </a:r>
          </a:p>
        </p:txBody>
      </p:sp>
      <p:sp>
        <p:nvSpPr>
          <p:cNvPr id="10" name="TextBox 9"/>
          <p:cNvSpPr txBox="1"/>
          <p:nvPr/>
        </p:nvSpPr>
        <p:spPr>
          <a:xfrm>
            <a:off x="6675120" y="413308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chỉ số chính gắn với tiền: giữ chân, doanh thu, lãi</a:t>
            </a:r>
          </a:p>
        </p:txBody>
      </p:sp>
      <p:sp>
        <p:nvSpPr>
          <p:cNvPr id="11" name="TextBox 10"/>
          <p:cNvSpPr txBox="1"/>
          <p:nvPr/>
        </p:nvSpPr>
        <p:spPr>
          <a:xfrm>
            <a:off x="6675120" y="4937760"/>
            <a:ext cx="5056632" cy="365760"/>
          </a:xfrm>
          <a:prstGeom prst="rect">
            <a:avLst/>
          </a:prstGeom>
          <a:noFill/>
        </p:spPr>
        <p:txBody>
          <a:bodyPr wrap="square" lIns="0" rIns="0" tIns="0" bIns="0" anchor="t">
            <a:spAutoFit/>
          </a:bodyPr>
          <a:lstStyle/>
          <a:p>
            <a:pPr algn="l">
              <a:lnSpc>
                <a:spcPct val="110000"/>
              </a:lnSpc>
              <a:spcAft>
                <a:spcPts val="0"/>
              </a:spcAft>
            </a:pPr>
            <a:r>
              <a:rPr sz="1900" b="1" i="0">
                <a:solidFill>
                  <a:srgbClr val="1C3A6E"/>
                </a:solidFill>
                <a:latin typeface="Arial"/>
              </a:rPr>
              <a:t>Phù hợp nhất chưa chắc có lợi nhất</a:t>
            </a:r>
          </a:p>
        </p:txBody>
      </p:sp>
      <p:sp>
        <p:nvSpPr>
          <p:cNvPr id="12" name="TextBox 11"/>
          <p:cNvSpPr txBox="1"/>
          <p:nvPr/>
        </p:nvSpPr>
        <p:spPr>
          <a:xfrm>
            <a:off x="6675120" y="5321808"/>
            <a:ext cx="5056632" cy="731520"/>
          </a:xfrm>
          <a:prstGeom prst="rect">
            <a:avLst/>
          </a:prstGeom>
          <a:noFill/>
        </p:spPr>
        <p:txBody>
          <a:bodyPr wrap="square" lIns="0" rIns="0" tIns="0" bIns="0" anchor="t">
            <a:spAutoFit/>
          </a:bodyPr>
          <a:lstStyle/>
          <a:p>
            <a:pPr algn="l">
              <a:lnSpc>
                <a:spcPct val="110000"/>
              </a:lnSpc>
              <a:spcAft>
                <a:spcPts val="0"/>
              </a:spcAft>
            </a:pPr>
            <a:r>
              <a:rPr sz="1600" b="0" i="0">
                <a:solidFill>
                  <a:srgbClr val="26303D"/>
                </a:solidFill>
                <a:latin typeface="Arial"/>
              </a:rPr>
              <a:t>mỗi sản phẩm mang lại mức lãi khác nhau (Bài 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FFFFFF"/>
                </a:solidFill>
                <a:latin typeface="Arial"/>
              </a:rPr>
              <a:t>Sáu câu hỏi, sáu câu trả lời</a:t>
            </a:r>
          </a:p>
        </p:txBody>
      </p:sp>
      <p:sp>
        <p:nvSpPr>
          <p:cNvPr id="4" name="TextBox 3"/>
          <p:cNvSpPr txBox="1"/>
          <p:nvPr/>
        </p:nvSpPr>
        <p:spPr>
          <a:xfrm>
            <a:off x="457200" y="1463040"/>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1</a:t>
            </a:r>
          </a:p>
        </p:txBody>
      </p:sp>
      <p:sp>
        <p:nvSpPr>
          <p:cNvPr id="5" name="TextBox 4"/>
          <p:cNvSpPr txBox="1"/>
          <p:nvPr/>
        </p:nvSpPr>
        <p:spPr>
          <a:xfrm>
            <a:off x="1097280" y="1463040"/>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Hệ gợi ý giải bài toán gì?</a:t>
            </a:r>
          </a:p>
        </p:txBody>
      </p:sp>
      <p:sp>
        <p:nvSpPr>
          <p:cNvPr id="6" name="TextBox 5"/>
          <p:cNvSpPr txBox="1"/>
          <p:nvPr/>
        </p:nvSpPr>
        <p:spPr>
          <a:xfrm>
            <a:off x="5852160" y="1463040"/>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Chọn K sản phẩm cho từng người: một quyết định phân bổ</a:t>
            </a:r>
          </a:p>
        </p:txBody>
      </p:sp>
      <p:sp>
        <p:nvSpPr>
          <p:cNvPr id="7" name="TextBox 6"/>
          <p:cNvSpPr txBox="1"/>
          <p:nvPr/>
        </p:nvSpPr>
        <p:spPr>
          <a:xfrm>
            <a:off x="457200" y="2212848"/>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2</a:t>
            </a:r>
          </a:p>
        </p:txBody>
      </p:sp>
      <p:sp>
        <p:nvSpPr>
          <p:cNvPr id="8" name="TextBox 7"/>
          <p:cNvSpPr txBox="1"/>
          <p:nvPr/>
        </p:nvSpPr>
        <p:spPr>
          <a:xfrm>
            <a:off x="1097280" y="2212848"/>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Hệ gợi ý học từ dữ liệu nào?</a:t>
            </a:r>
          </a:p>
        </p:txBody>
      </p:sp>
      <p:sp>
        <p:nvSpPr>
          <p:cNvPr id="9" name="TextBox 8"/>
          <p:cNvSpPr txBox="1"/>
          <p:nvPr/>
        </p:nvSpPr>
        <p:spPr>
          <a:xfrm>
            <a:off x="5852160" y="2212848"/>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Phản hồi ẩn và tường minh; ma trận rất thưa, có đuôi dài</a:t>
            </a:r>
          </a:p>
        </p:txBody>
      </p:sp>
      <p:sp>
        <p:nvSpPr>
          <p:cNvPr id="10" name="TextBox 9"/>
          <p:cNvSpPr txBox="1"/>
          <p:nvPr/>
        </p:nvSpPr>
        <p:spPr>
          <a:xfrm>
            <a:off x="457200" y="2962656"/>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3</a:t>
            </a:r>
          </a:p>
        </p:txBody>
      </p:sp>
      <p:sp>
        <p:nvSpPr>
          <p:cNvPr id="11" name="TextBox 10"/>
          <p:cNvSpPr txBox="1"/>
          <p:nvPr/>
        </p:nvSpPr>
        <p:spPr>
          <a:xfrm>
            <a:off x="1097280" y="2962656"/>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Gợi ý dựa vào nội dung hay vào người khác?</a:t>
            </a:r>
          </a:p>
        </p:txBody>
      </p:sp>
      <p:sp>
        <p:nvSpPr>
          <p:cNvPr id="12" name="TextBox 11"/>
          <p:cNvSpPr txBox="1"/>
          <p:nvPr/>
        </p:nvSpPr>
        <p:spPr>
          <a:xfrm>
            <a:off x="5852160" y="2962656"/>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Nội dung: so khớp hồ sơ. Cộng tác: người giống mình thích gì</a:t>
            </a:r>
          </a:p>
        </p:txBody>
      </p:sp>
      <p:sp>
        <p:nvSpPr>
          <p:cNvPr id="13" name="TextBox 12"/>
          <p:cNvSpPr txBox="1"/>
          <p:nvPr/>
        </p:nvSpPr>
        <p:spPr>
          <a:xfrm>
            <a:off x="457200" y="3712464"/>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4</a:t>
            </a:r>
          </a:p>
        </p:txBody>
      </p:sp>
      <p:sp>
        <p:nvSpPr>
          <p:cNvPr id="14" name="TextBox 13"/>
          <p:cNvSpPr txBox="1"/>
          <p:nvPr/>
        </p:nvSpPr>
        <p:spPr>
          <a:xfrm>
            <a:off x="1097280" y="3712464"/>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Làm sao biết hệ gợi ý tốt?</a:t>
            </a:r>
          </a:p>
        </p:txBody>
      </p:sp>
      <p:sp>
        <p:nvSpPr>
          <p:cNvPr id="15" name="TextBox 14"/>
          <p:cNvSpPr txBox="1"/>
          <p:nvPr/>
        </p:nvSpPr>
        <p:spPr>
          <a:xfrm>
            <a:off x="5852160" y="3712464"/>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So với đường cơ sở; nhìn cả độ chính xác lẫn độ phủ</a:t>
            </a:r>
          </a:p>
        </p:txBody>
      </p:sp>
      <p:sp>
        <p:nvSpPr>
          <p:cNvPr id="16" name="TextBox 15"/>
          <p:cNvSpPr txBox="1"/>
          <p:nvPr/>
        </p:nvSpPr>
        <p:spPr>
          <a:xfrm>
            <a:off x="457200" y="4462272"/>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5</a:t>
            </a:r>
          </a:p>
        </p:txBody>
      </p:sp>
      <p:sp>
        <p:nvSpPr>
          <p:cNvPr id="17" name="TextBox 16"/>
          <p:cNvSpPr txBox="1"/>
          <p:nvPr/>
        </p:nvSpPr>
        <p:spPr>
          <a:xfrm>
            <a:off x="1097280" y="4462272"/>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Sản phẩm mới, người dùng mới thì sao?</a:t>
            </a:r>
          </a:p>
        </p:txBody>
      </p:sp>
      <p:sp>
        <p:nvSpPr>
          <p:cNvPr id="18" name="TextBox 17"/>
          <p:cNvSpPr txBox="1"/>
          <p:nvPr/>
        </p:nvSpPr>
        <p:spPr>
          <a:xfrm>
            <a:off x="5852160" y="4462272"/>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Sản phẩm mới dùng nội dung; kết hợp hai cách thành hệ lai</a:t>
            </a:r>
          </a:p>
        </p:txBody>
      </p:sp>
      <p:sp>
        <p:nvSpPr>
          <p:cNvPr id="19" name="TextBox 18"/>
          <p:cNvSpPr txBox="1"/>
          <p:nvPr/>
        </p:nvSpPr>
        <p:spPr>
          <a:xfrm>
            <a:off x="457200" y="5212080"/>
            <a:ext cx="548640" cy="749808"/>
          </a:xfrm>
          <a:prstGeom prst="rect">
            <a:avLst/>
          </a:prstGeom>
          <a:noFill/>
        </p:spPr>
        <p:txBody>
          <a:bodyPr wrap="square" lIns="0" rIns="0" tIns="0" bIns="0" anchor="ctr">
            <a:spAutoFit/>
          </a:bodyPr>
          <a:lstStyle/>
          <a:p>
            <a:pPr algn="l">
              <a:lnSpc>
                <a:spcPct val="110000"/>
              </a:lnSpc>
              <a:spcAft>
                <a:spcPts val="0"/>
              </a:spcAft>
            </a:pPr>
            <a:r>
              <a:rPr sz="2400" b="1" i="0">
                <a:solidFill>
                  <a:srgbClr val="F5C518"/>
                </a:solidFill>
                <a:latin typeface="Arial"/>
              </a:rPr>
              <a:t>6</a:t>
            </a:r>
          </a:p>
        </p:txBody>
      </p:sp>
      <p:sp>
        <p:nvSpPr>
          <p:cNvPr id="20" name="TextBox 19"/>
          <p:cNvSpPr txBox="1"/>
          <p:nvPr/>
        </p:nvSpPr>
        <p:spPr>
          <a:xfrm>
            <a:off x="1097280" y="5212080"/>
            <a:ext cx="4572000" cy="749808"/>
          </a:xfrm>
          <a:prstGeom prst="rect">
            <a:avLst/>
          </a:prstGeom>
          <a:noFill/>
        </p:spPr>
        <p:txBody>
          <a:bodyPr wrap="square" lIns="0" rIns="0" tIns="0" bIns="0" anchor="ctr">
            <a:spAutoFit/>
          </a:bodyPr>
          <a:lstStyle/>
          <a:p>
            <a:pPr algn="l">
              <a:lnSpc>
                <a:spcPct val="110000"/>
              </a:lnSpc>
              <a:spcAft>
                <a:spcPts val="0"/>
              </a:spcAft>
            </a:pPr>
            <a:r>
              <a:rPr sz="1700" b="1" i="0">
                <a:solidFill>
                  <a:srgbClr val="FFFFFF"/>
                </a:solidFill>
                <a:latin typeface="Arial"/>
              </a:rPr>
              <a:t>Giá trị kinh doanh đo bằng gì?</a:t>
            </a:r>
          </a:p>
        </p:txBody>
      </p:sp>
      <p:sp>
        <p:nvSpPr>
          <p:cNvPr id="21" name="TextBox 20"/>
          <p:cNvSpPr txBox="1"/>
          <p:nvPr/>
        </p:nvSpPr>
        <p:spPr>
          <a:xfrm>
            <a:off x="5852160" y="5212080"/>
            <a:ext cx="5879592" cy="749808"/>
          </a:xfrm>
          <a:prstGeom prst="rect">
            <a:avLst/>
          </a:prstGeom>
          <a:noFill/>
        </p:spPr>
        <p:txBody>
          <a:bodyPr wrap="square" lIns="0" rIns="0" tIns="0" bIns="0" anchor="ctr">
            <a:spAutoFit/>
          </a:bodyPr>
          <a:lstStyle/>
          <a:p>
            <a:pPr algn="l">
              <a:lnSpc>
                <a:spcPct val="110000"/>
              </a:lnSpc>
              <a:spcAft>
                <a:spcPts val="0"/>
              </a:spcAft>
            </a:pPr>
            <a:r>
              <a:rPr sz="1700" b="0" i="0">
                <a:solidFill>
                  <a:srgbClr val="DCE4F0"/>
                </a:solidFill>
                <a:latin typeface="Arial"/>
              </a:rPr>
              <a:t>Thử nghiệm A/B với chỉ số gắn với tiền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png"/>
          <p:cNvPicPr>
            <a:picLocks noChangeAspect="1"/>
          </p:cNvPicPr>
          <p:nvPr/>
        </p:nvPicPr>
        <p:blipFill>
          <a:blip r:embed="rId2"/>
          <a:stretch>
            <a:fillRect/>
          </a:stretch>
        </p:blipFill>
        <p:spPr>
          <a:xfrm>
            <a:off x="0" y="0"/>
            <a:ext cx="12188825" cy="6858000"/>
          </a:xfrm>
          <a:prstGeom prst="rect">
            <a:avLst/>
          </a:prstGeom>
        </p:spPr>
      </p:pic>
      <p:sp>
        <p:nvSpPr>
          <p:cNvPr id="3" name="TextBox 2"/>
          <p:cNvSpPr txBox="1"/>
          <p:nvPr/>
        </p:nvSpPr>
        <p:spPr>
          <a:xfrm>
            <a:off x="457200" y="566928"/>
            <a:ext cx="11274425" cy="640080"/>
          </a:xfrm>
          <a:prstGeom prst="rect">
            <a:avLst/>
          </a:prstGeom>
          <a:noFill/>
        </p:spPr>
        <p:txBody>
          <a:bodyPr wrap="square" lIns="0" rIns="0" tIns="0" bIns="0" anchor="ctr">
            <a:spAutoFit/>
          </a:bodyPr>
          <a:lstStyle/>
          <a:p>
            <a:pPr algn="l">
              <a:lnSpc>
                <a:spcPct val="110000"/>
              </a:lnSpc>
              <a:spcAft>
                <a:spcPts val="0"/>
              </a:spcAft>
            </a:pPr>
            <a:r>
              <a:rPr sz="2800" b="1" i="0">
                <a:solidFill>
                  <a:srgbClr val="1C3A6E"/>
                </a:solidFill>
                <a:latin typeface="Arial"/>
              </a:rPr>
              <a:t>Áp dụng ngoài Netflix</a:t>
            </a:r>
          </a:p>
        </p:txBody>
      </p:sp>
      <p:sp>
        <p:nvSpPr>
          <p:cNvPr id="4" name="Rounded Rectangle 3"/>
          <p:cNvSpPr/>
          <p:nvPr/>
        </p:nvSpPr>
        <p:spPr>
          <a:xfrm>
            <a:off x="457200" y="1417320"/>
            <a:ext cx="11274425" cy="1234440"/>
          </a:xfrm>
          <a:prstGeom prst="roundRect">
            <a:avLst>
              <a:gd name="adj" fmla="val 6000"/>
            </a:avLst>
          </a:prstGeom>
          <a:solidFill>
            <a:srgbClr val="EAF0F8"/>
          </a:solidFill>
          <a:ln>
            <a:noFill/>
          </a:ln>
          <a:effectLst/>
        </p:spPr>
        <p:txBody>
          <a:bodyPr rtlCol="0" anchor="ctr"/>
          <a:lstStyle/>
          <a:p/>
        </p:txBody>
      </p:sp>
      <p:sp>
        <p:nvSpPr>
          <p:cNvPr id="5" name="TextBox 4"/>
          <p:cNvSpPr txBox="1"/>
          <p:nvPr/>
        </p:nvSpPr>
        <p:spPr>
          <a:xfrm>
            <a:off x="777240" y="141732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1</a:t>
            </a:r>
          </a:p>
        </p:txBody>
      </p:sp>
      <p:sp>
        <p:nvSpPr>
          <p:cNvPr id="6" name="TextBox 5"/>
          <p:cNvSpPr txBox="1"/>
          <p:nvPr/>
        </p:nvSpPr>
        <p:spPr>
          <a:xfrm>
            <a:off x="1463040" y="141732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Một sàn thương mại điện tử vừa nhập 500 mẫu áo mới, chưa ai mua. Dùng phương pháp nào để gợi ý chúng? Vì sao?</a:t>
            </a:r>
          </a:p>
        </p:txBody>
      </p:sp>
      <p:sp>
        <p:nvSpPr>
          <p:cNvPr id="7" name="Rounded Rectangle 6"/>
          <p:cNvSpPr/>
          <p:nvPr/>
        </p:nvSpPr>
        <p:spPr>
          <a:xfrm>
            <a:off x="457200" y="2880360"/>
            <a:ext cx="11274425" cy="1234440"/>
          </a:xfrm>
          <a:prstGeom prst="roundRect">
            <a:avLst>
              <a:gd name="adj" fmla="val 6000"/>
            </a:avLst>
          </a:prstGeom>
          <a:solidFill>
            <a:srgbClr val="EAF0F8"/>
          </a:solidFill>
          <a:ln>
            <a:noFill/>
          </a:ln>
          <a:effectLst/>
        </p:spPr>
        <p:txBody>
          <a:bodyPr rtlCol="0" anchor="ctr"/>
          <a:lstStyle/>
          <a:p/>
        </p:txBody>
      </p:sp>
      <p:sp>
        <p:nvSpPr>
          <p:cNvPr id="8" name="TextBox 7"/>
          <p:cNvSpPr txBox="1"/>
          <p:nvPr/>
        </p:nvSpPr>
        <p:spPr>
          <a:xfrm>
            <a:off x="777240" y="288036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2</a:t>
            </a:r>
          </a:p>
        </p:txBody>
      </p:sp>
      <p:sp>
        <p:nvSpPr>
          <p:cNvPr id="9" name="TextBox 8"/>
          <p:cNvSpPr txBox="1"/>
          <p:nvPr/>
        </p:nvSpPr>
        <p:spPr>
          <a:xfrm>
            <a:off x="1463040" y="288036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Hàng “Khách mua sản phẩm này cũng mua…” trên một sàn TMĐT thuộc phương pháp nào? Nó cần dữ liệu gì?</a:t>
            </a:r>
          </a:p>
        </p:txBody>
      </p:sp>
      <p:sp>
        <p:nvSpPr>
          <p:cNvPr id="10" name="Rounded Rectangle 9"/>
          <p:cNvSpPr/>
          <p:nvPr/>
        </p:nvSpPr>
        <p:spPr>
          <a:xfrm>
            <a:off x="457200" y="4343400"/>
            <a:ext cx="11274425" cy="1234440"/>
          </a:xfrm>
          <a:prstGeom prst="roundRect">
            <a:avLst>
              <a:gd name="adj" fmla="val 6000"/>
            </a:avLst>
          </a:prstGeom>
          <a:solidFill>
            <a:srgbClr val="EAF0F8"/>
          </a:solidFill>
          <a:ln>
            <a:noFill/>
          </a:ln>
          <a:effectLst/>
        </p:spPr>
        <p:txBody>
          <a:bodyPr rtlCol="0" anchor="ctr"/>
          <a:lstStyle/>
          <a:p/>
        </p:txBody>
      </p:sp>
      <p:sp>
        <p:nvSpPr>
          <p:cNvPr id="11" name="TextBox 10"/>
          <p:cNvSpPr txBox="1"/>
          <p:nvPr/>
        </p:nvSpPr>
        <p:spPr>
          <a:xfrm>
            <a:off x="777240" y="4343400"/>
            <a:ext cx="640080" cy="1234440"/>
          </a:xfrm>
          <a:prstGeom prst="rect">
            <a:avLst/>
          </a:prstGeom>
          <a:noFill/>
        </p:spPr>
        <p:txBody>
          <a:bodyPr wrap="square" lIns="0" rIns="0" tIns="0" bIns="0" anchor="ctr">
            <a:spAutoFit/>
          </a:bodyPr>
          <a:lstStyle/>
          <a:p>
            <a:pPr algn="l">
              <a:lnSpc>
                <a:spcPct val="110000"/>
              </a:lnSpc>
              <a:spcAft>
                <a:spcPts val="0"/>
              </a:spcAft>
            </a:pPr>
            <a:r>
              <a:rPr sz="3200" b="1" i="0">
                <a:solidFill>
                  <a:srgbClr val="1C3A6E"/>
                </a:solidFill>
                <a:latin typeface="Arial"/>
              </a:rPr>
              <a:t>3</a:t>
            </a:r>
          </a:p>
        </p:txBody>
      </p:sp>
      <p:sp>
        <p:nvSpPr>
          <p:cNvPr id="12" name="TextBox 11"/>
          <p:cNvSpPr txBox="1"/>
          <p:nvPr/>
        </p:nvSpPr>
        <p:spPr>
          <a:xfrm>
            <a:off x="1463040" y="4343400"/>
            <a:ext cx="9902825" cy="1234440"/>
          </a:xfrm>
          <a:prstGeom prst="rect">
            <a:avLst/>
          </a:prstGeom>
          <a:noFill/>
        </p:spPr>
        <p:txBody>
          <a:bodyPr wrap="square" lIns="0" rIns="0" tIns="0" bIns="0" anchor="ctr">
            <a:spAutoFit/>
          </a:bodyPr>
          <a:lstStyle/>
          <a:p>
            <a:pPr algn="l">
              <a:lnSpc>
                <a:spcPct val="110000"/>
              </a:lnSpc>
              <a:spcAft>
                <a:spcPts val="0"/>
              </a:spcAft>
            </a:pPr>
            <a:r>
              <a:rPr sz="1900" b="0" i="0">
                <a:solidFill>
                  <a:srgbClr val="26303D"/>
                </a:solidFill>
                <a:latin typeface="Arial"/>
              </a:rPr>
              <a:t>Mô hình mới chính xác hơn 2% nhưng chỉ gợi ý 10% danh mục thay vì 40%. Bạn có khuyến nghị triển khai ngay không?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